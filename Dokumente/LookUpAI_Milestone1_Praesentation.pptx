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4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6" name="Group 65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67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68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9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0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71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2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3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4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5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6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7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8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9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0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1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2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3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4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5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6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7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8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9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0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1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2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3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4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5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6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7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08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3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00238" y="1122363"/>
            <a:ext cx="6593681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00238" y="3602038"/>
            <a:ext cx="6593681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801052" y="5410202"/>
            <a:ext cx="20574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00237" y="5410202"/>
            <a:ext cx="384366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15603" y="5410200"/>
            <a:ext cx="57831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3243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1"/>
          <p:cNvSpPr>
            <a:spLocks noGrp="1"/>
          </p:cNvSpPr>
          <p:nvPr>
            <p:ph type="title"/>
          </p:nvPr>
        </p:nvSpPr>
        <p:spPr>
          <a:xfrm>
            <a:off x="856060" y="618518"/>
            <a:ext cx="7429499" cy="147857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8" name="Content Placeholder 2"/>
          <p:cNvSpPr>
            <a:spLocks noGrp="1"/>
          </p:cNvSpPr>
          <p:nvPr>
            <p:ph idx="1"/>
          </p:nvPr>
        </p:nvSpPr>
        <p:spPr>
          <a:xfrm>
            <a:off x="856060" y="2249487"/>
            <a:ext cx="7429499" cy="354171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9" name="Date Placeholder 3"/>
          <p:cNvSpPr>
            <a:spLocks noGrp="1"/>
          </p:cNvSpPr>
          <p:nvPr>
            <p:ph type="dt" sz="half" idx="10"/>
          </p:nvPr>
        </p:nvSpPr>
        <p:spPr>
          <a:xfrm>
            <a:off x="5592691" y="5883277"/>
            <a:ext cx="20574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56059" y="5883276"/>
            <a:ext cx="467948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707241" y="5883275"/>
            <a:ext cx="57831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2357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1419227"/>
            <a:ext cx="74295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4424362"/>
            <a:ext cx="74295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9527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6058" y="2249486"/>
            <a:ext cx="3658792" cy="354171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1" y="2249486"/>
            <a:ext cx="3656408" cy="354171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9937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619127"/>
            <a:ext cx="7429500" cy="147796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78902" y="2249486"/>
            <a:ext cx="3435949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6058" y="3073398"/>
            <a:ext cx="3658793" cy="27178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51992" y="2249485"/>
            <a:ext cx="3433565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3073398"/>
            <a:ext cx="3656408" cy="27178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65112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283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6630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029" y="609601"/>
            <a:ext cx="2892028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150" y="592666"/>
            <a:ext cx="4418407" cy="5198534"/>
          </a:xfrm>
        </p:spPr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029" y="2249486"/>
            <a:ext cx="2892028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6650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1" y="609600"/>
            <a:ext cx="3753962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32866" y="609600"/>
            <a:ext cx="3452693" cy="5181602"/>
          </a:xfrm>
          <a:prstGeom prst="round2DiagRect">
            <a:avLst>
              <a:gd name="adj1" fmla="val 6074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9" y="2249486"/>
            <a:ext cx="3753964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2307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4304665"/>
            <a:ext cx="7434266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56058" y="606426"/>
            <a:ext cx="7434266" cy="3299778"/>
          </a:xfrm>
          <a:prstGeom prst="round2DiagRect">
            <a:avLst>
              <a:gd name="adj1" fmla="val 5101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4" y="5124020"/>
            <a:ext cx="7433144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8681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93" y="609600"/>
            <a:ext cx="7429466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4419600"/>
            <a:ext cx="7428344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622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609600"/>
            <a:ext cx="6977064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3365557"/>
            <a:ext cx="6564224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4309919"/>
            <a:ext cx="74295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696579" y="718458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17473" y="2764972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100982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2134042"/>
            <a:ext cx="74295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3" y="4657655"/>
            <a:ext cx="7428379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4363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56060" y="609600"/>
            <a:ext cx="7429499" cy="19050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856058" y="2674463"/>
            <a:ext cx="2397674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856059" y="3360263"/>
            <a:ext cx="2396432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86075" y="2677635"/>
            <a:ext cx="238828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86075" y="3363435"/>
            <a:ext cx="238895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332" y="2674463"/>
            <a:ext cx="2396226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889332" y="3360263"/>
            <a:ext cx="2396226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30801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56059" y="609600"/>
            <a:ext cx="7429499" cy="19050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856060" y="4404596"/>
            <a:ext cx="239643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856060" y="2666998"/>
            <a:ext cx="239643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856060" y="4980859"/>
            <a:ext cx="239643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66790" y="4404596"/>
            <a:ext cx="24003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66790" y="2666998"/>
            <a:ext cx="2399205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65695" y="4980857"/>
            <a:ext cx="24003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426" y="4404595"/>
            <a:ext cx="2393056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889332" y="2666998"/>
            <a:ext cx="2396227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889332" y="4980855"/>
            <a:ext cx="2396226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cap="all" baseline="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9706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8302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1" y="609600"/>
            <a:ext cx="1503758" cy="5181601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6057" y="609600"/>
            <a:ext cx="5811443" cy="5181601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7410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9041774" cy="6858001"/>
            <a:chOff x="-14288" y="0"/>
            <a:chExt cx="9041774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8352798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6060" y="618518"/>
            <a:ext cx="7429499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60" y="2249487"/>
            <a:ext cx="74294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92691" y="5883277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56059" y="5883276"/>
            <a:ext cx="46794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07241" y="5883275"/>
            <a:ext cx="578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54500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  <p:sldLayoutId id="2147483728" r:id="rId14"/>
    <p:sldLayoutId id="2147483729" r:id="rId15"/>
    <p:sldLayoutId id="2147483730" r:id="rId16"/>
    <p:sldLayoutId id="2147483731" r:id="rId17"/>
  </p:sldLayoutIdLst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dirty="0" err="1"/>
              <a:t>LookUpAI</a:t>
            </a:r>
            <a:r>
              <a:rPr dirty="0"/>
              <a:t> – KI-</a:t>
            </a:r>
            <a:r>
              <a:rPr dirty="0" err="1"/>
              <a:t>basierte</a:t>
            </a:r>
            <a:r>
              <a:rPr lang="de-DE" dirty="0"/>
              <a:t> </a:t>
            </a:r>
            <a:r>
              <a:rPr dirty="0" err="1"/>
              <a:t>Personenrecherche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dirty="0" err="1">
                <a:solidFill>
                  <a:schemeClr val="tx1"/>
                </a:solidFill>
              </a:rPr>
              <a:t>Projektvorstellung</a:t>
            </a:r>
            <a:r>
              <a:rPr dirty="0">
                <a:solidFill>
                  <a:schemeClr val="tx1"/>
                </a:solidFill>
              </a:rPr>
              <a:t> &amp; </a:t>
            </a:r>
            <a:r>
              <a:rPr dirty="0" err="1">
                <a:solidFill>
                  <a:schemeClr val="tx1"/>
                </a:solidFill>
              </a:rPr>
              <a:t>Technologieplan</a:t>
            </a:r>
            <a:endParaRPr dirty="0">
              <a:solidFill>
                <a:schemeClr val="tx1"/>
              </a:solidFill>
            </a:endParaRPr>
          </a:p>
          <a:p>
            <a:r>
              <a:rPr dirty="0">
                <a:solidFill>
                  <a:schemeClr val="tx1"/>
                </a:solidFill>
              </a:rPr>
              <a:t>HAW Hamburg – Milestone 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Team &amp; Rollen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>
              <a:defRPr sz="1800"/>
            </a:pPr>
            <a:r>
              <a:rPr lang="de-DE" sz="1800" dirty="0"/>
              <a:t>System Design &amp; Architektur (Entwurf der Systemarchitektur, API-Struktur und Datenflussplanung): Ahmad Kalaf, Jeff Sammy </a:t>
            </a:r>
            <a:r>
              <a:rPr lang="de-DE" sz="1800" dirty="0" err="1"/>
              <a:t>Amevor</a:t>
            </a:r>
            <a:endParaRPr lang="de-DE" sz="1800" dirty="0"/>
          </a:p>
          <a:p>
            <a:pPr>
              <a:defRPr sz="1800"/>
            </a:pPr>
            <a:r>
              <a:rPr lang="de-DE" sz="1800" dirty="0" err="1"/>
              <a:t>Requirement</a:t>
            </a:r>
            <a:r>
              <a:rPr lang="de-DE" sz="1800" dirty="0"/>
              <a:t> Engineering (Sammlung und Analyse der Anforderungen, Spezifikation der Systemfunktionen): Afrane Kwame Berquin, Kehan Majeed</a:t>
            </a:r>
          </a:p>
          <a:p>
            <a:pPr>
              <a:defRPr sz="1800"/>
            </a:pPr>
            <a:r>
              <a:rPr lang="de-DE" sz="1800" dirty="0"/>
              <a:t>Frontend (UI &amp; </a:t>
            </a:r>
            <a:r>
              <a:rPr lang="de-DE" sz="1800" dirty="0" err="1"/>
              <a:t>Graphical</a:t>
            </a:r>
            <a:r>
              <a:rPr lang="de-DE" sz="1800" dirty="0"/>
              <a:t> </a:t>
            </a:r>
            <a:r>
              <a:rPr lang="de-DE" sz="1800" dirty="0" err="1"/>
              <a:t>Visualization</a:t>
            </a:r>
            <a:r>
              <a:rPr lang="de-DE" sz="1800" dirty="0"/>
              <a:t>, Gestaltung und Umsetzung der Benutzeroberfläche, visuelle Darstellung der Ergebnisse): Mubarak Ahmad, Kehan Majeed</a:t>
            </a:r>
          </a:p>
          <a:p>
            <a:pPr>
              <a:defRPr sz="1800"/>
            </a:pPr>
            <a:r>
              <a:rPr lang="de-DE" dirty="0" err="1"/>
              <a:t>Product</a:t>
            </a:r>
            <a:r>
              <a:rPr lang="de-DE" dirty="0"/>
              <a:t> </a:t>
            </a:r>
            <a:r>
              <a:rPr lang="de-DE" dirty="0" err="1"/>
              <a:t>Owner</a:t>
            </a:r>
            <a:r>
              <a:rPr lang="de-DE" dirty="0"/>
              <a:t> (</a:t>
            </a:r>
            <a:r>
              <a:rPr lang="de-DE" sz="1800" dirty="0"/>
              <a:t>Gesamtkoordination, Zieldefinition, Priorisierung der Anforderungen): Afrane Kwame Berquin</a:t>
            </a:r>
          </a:p>
          <a:p>
            <a:pPr>
              <a:defRPr sz="1800"/>
            </a:pPr>
            <a:r>
              <a:rPr lang="de-DE" sz="1800" dirty="0"/>
              <a:t>Backend (Datenanalyse &amp; KI-Logik, Implementierung der Backend-Logik, Datenverarbeitung, KI-Modelle und Schnittstellen): Ahmad Kalaf, Mubarak Ahmad, Jeff Sammy </a:t>
            </a:r>
            <a:r>
              <a:rPr lang="de-DE" sz="1800" dirty="0" err="1"/>
              <a:t>Amevor</a:t>
            </a:r>
            <a:endParaRPr lang="de-DE" sz="1800" dirty="0"/>
          </a:p>
          <a:p>
            <a:pPr>
              <a:defRPr sz="1800"/>
            </a:pPr>
            <a:r>
              <a:rPr lang="de-DE" sz="1800" dirty="0" err="1"/>
              <a:t>Continuous</a:t>
            </a:r>
            <a:r>
              <a:rPr lang="de-DE" sz="1800" dirty="0"/>
              <a:t> Integration &amp; </a:t>
            </a:r>
            <a:r>
              <a:rPr lang="de-DE" sz="1800" dirty="0" err="1"/>
              <a:t>Testing</a:t>
            </a:r>
            <a:r>
              <a:rPr lang="de-DE" sz="1800" dirty="0"/>
              <a:t> (Versionskontrolle, Testautomatisierung, </a:t>
            </a:r>
            <a:r>
              <a:rPr lang="de-DE" sz="1800" dirty="0" err="1"/>
              <a:t>Deployment</a:t>
            </a:r>
            <a:r>
              <a:rPr lang="de-DE" sz="1800" dirty="0"/>
              <a:t> und Qualitätssicherung): Jeff Sammy </a:t>
            </a:r>
            <a:r>
              <a:rPr lang="de-DE" sz="1800" dirty="0" err="1"/>
              <a:t>Amevor</a:t>
            </a:r>
            <a:r>
              <a:rPr lang="de-DE" sz="1800" dirty="0"/>
              <a:t>, Kehan Majeed 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Projektidee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dirty="0"/>
          </a:p>
          <a:p>
            <a:pPr>
              <a:defRPr sz="1800"/>
            </a:pPr>
            <a:r>
              <a:rPr dirty="0"/>
              <a:t>Ziel: </a:t>
            </a:r>
            <a:r>
              <a:rPr dirty="0" err="1"/>
              <a:t>Automatisierte</a:t>
            </a:r>
            <a:r>
              <a:rPr dirty="0"/>
              <a:t> </a:t>
            </a:r>
            <a:r>
              <a:rPr dirty="0" err="1"/>
              <a:t>Erstellung</a:t>
            </a:r>
            <a:r>
              <a:rPr dirty="0"/>
              <a:t> </a:t>
            </a:r>
            <a:r>
              <a:rPr dirty="0" err="1"/>
              <a:t>geprüfter</a:t>
            </a:r>
            <a:r>
              <a:rPr dirty="0"/>
              <a:t> </a:t>
            </a:r>
            <a:r>
              <a:rPr dirty="0" err="1"/>
              <a:t>Kurzbiografien</a:t>
            </a:r>
            <a:r>
              <a:rPr dirty="0"/>
              <a:t> </a:t>
            </a:r>
            <a:r>
              <a:rPr dirty="0" err="1"/>
              <a:t>über</a:t>
            </a:r>
            <a:r>
              <a:rPr dirty="0"/>
              <a:t> </a:t>
            </a:r>
            <a:r>
              <a:rPr dirty="0" err="1"/>
              <a:t>Geschäftspersonen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/>
              <a:t>Problem: </a:t>
            </a:r>
            <a:r>
              <a:rPr dirty="0" err="1"/>
              <a:t>Im</a:t>
            </a:r>
            <a:r>
              <a:rPr dirty="0"/>
              <a:t> Internet </a:t>
            </a:r>
            <a:r>
              <a:rPr dirty="0" err="1"/>
              <a:t>kursieren</a:t>
            </a:r>
            <a:r>
              <a:rPr dirty="0"/>
              <a:t> </a:t>
            </a:r>
            <a:r>
              <a:rPr dirty="0" err="1"/>
              <a:t>viele</a:t>
            </a:r>
            <a:r>
              <a:rPr dirty="0"/>
              <a:t> </a:t>
            </a:r>
            <a:r>
              <a:rPr dirty="0" err="1"/>
              <a:t>unzuverlässige</a:t>
            </a:r>
            <a:r>
              <a:rPr dirty="0"/>
              <a:t> </a:t>
            </a:r>
            <a:r>
              <a:rPr dirty="0" err="1"/>
              <a:t>Informationen</a:t>
            </a:r>
            <a:r>
              <a:rPr dirty="0"/>
              <a:t> </a:t>
            </a:r>
            <a:r>
              <a:rPr dirty="0" err="1"/>
              <a:t>über</a:t>
            </a:r>
            <a:r>
              <a:rPr dirty="0"/>
              <a:t> </a:t>
            </a:r>
            <a:r>
              <a:rPr dirty="0" err="1"/>
              <a:t>Personen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 err="1"/>
              <a:t>Lösung</a:t>
            </a:r>
            <a:r>
              <a:rPr dirty="0"/>
              <a:t>: </a:t>
            </a:r>
            <a:r>
              <a:rPr dirty="0" err="1"/>
              <a:t>LookUpAI</a:t>
            </a:r>
            <a:r>
              <a:rPr dirty="0"/>
              <a:t> </a:t>
            </a:r>
            <a:r>
              <a:rPr dirty="0" err="1"/>
              <a:t>durchsucht</a:t>
            </a:r>
            <a:r>
              <a:rPr dirty="0"/>
              <a:t> </a:t>
            </a:r>
            <a:r>
              <a:rPr dirty="0" err="1"/>
              <a:t>öffentliche</a:t>
            </a:r>
            <a:r>
              <a:rPr dirty="0"/>
              <a:t> </a:t>
            </a:r>
            <a:r>
              <a:rPr dirty="0" err="1"/>
              <a:t>Quellen</a:t>
            </a:r>
            <a:r>
              <a:rPr lang="de-DE" dirty="0"/>
              <a:t> (</a:t>
            </a:r>
            <a:r>
              <a:rPr lang="de-DE" sz="1800" dirty="0"/>
              <a:t>Handelsregister, Firmenwebseiten, Google-Ergebnisse</a:t>
            </a:r>
            <a:r>
              <a:rPr lang="de-DE" dirty="0"/>
              <a:t>)</a:t>
            </a:r>
            <a:r>
              <a:rPr dirty="0"/>
              <a:t>, </a:t>
            </a:r>
            <a:r>
              <a:rPr dirty="0" err="1"/>
              <a:t>bewertet</a:t>
            </a:r>
            <a:r>
              <a:rPr dirty="0"/>
              <a:t> </a:t>
            </a:r>
            <a:r>
              <a:rPr dirty="0" err="1"/>
              <a:t>deren</a:t>
            </a:r>
            <a:r>
              <a:rPr dirty="0"/>
              <a:t> </a:t>
            </a:r>
            <a:r>
              <a:rPr dirty="0" err="1"/>
              <a:t>Glaubwürdigkeit</a:t>
            </a:r>
            <a:r>
              <a:rPr dirty="0"/>
              <a:t> und </a:t>
            </a:r>
            <a:r>
              <a:rPr dirty="0" err="1"/>
              <a:t>erstellt</a:t>
            </a:r>
            <a:r>
              <a:rPr dirty="0"/>
              <a:t> </a:t>
            </a:r>
            <a:r>
              <a:rPr dirty="0" err="1"/>
              <a:t>strukturierte</a:t>
            </a:r>
            <a:r>
              <a:rPr dirty="0"/>
              <a:t> Fact Sheets (z. B. PDF).</a:t>
            </a:r>
          </a:p>
          <a:p>
            <a:pPr>
              <a:defRPr sz="1800"/>
            </a:pPr>
            <a:r>
              <a:rPr dirty="0" err="1"/>
              <a:t>Einsatzgebiet</a:t>
            </a:r>
            <a:r>
              <a:rPr dirty="0"/>
              <a:t>: </a:t>
            </a:r>
            <a:r>
              <a:rPr dirty="0" err="1"/>
              <a:t>Vertriebs</a:t>
            </a:r>
            <a:r>
              <a:rPr dirty="0"/>
              <a:t>- und Research-</a:t>
            </a:r>
            <a:r>
              <a:rPr dirty="0" err="1"/>
              <a:t>Abteilungen</a:t>
            </a:r>
            <a:r>
              <a:rPr dirty="0"/>
              <a:t>, Recruiting</a:t>
            </a:r>
            <a:r>
              <a:rPr lang="de-DE" dirty="0"/>
              <a:t> </a:t>
            </a:r>
            <a:r>
              <a:rPr lang="de-DE" dirty="0" err="1"/>
              <a:t>usw</a:t>
            </a:r>
            <a:r>
              <a:rPr dirty="0"/>
              <a:t>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Zielgruppe &amp; Nutzen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>
              <a:defRPr sz="1800"/>
            </a:pPr>
            <a:r>
              <a:rPr dirty="0" err="1"/>
              <a:t>Unternehmen</a:t>
            </a:r>
            <a:r>
              <a:rPr dirty="0"/>
              <a:t>, die schnell </a:t>
            </a:r>
            <a:r>
              <a:rPr dirty="0" err="1"/>
              <a:t>verlässliche</a:t>
            </a:r>
            <a:r>
              <a:rPr dirty="0"/>
              <a:t> Hintergrundinformationen </a:t>
            </a:r>
            <a:r>
              <a:rPr dirty="0" err="1"/>
              <a:t>benötigen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/>
              <a:t>Recruiter und </a:t>
            </a:r>
            <a:r>
              <a:rPr dirty="0" err="1"/>
              <a:t>Analysten</a:t>
            </a:r>
            <a:r>
              <a:rPr dirty="0"/>
              <a:t>, die </a:t>
            </a:r>
            <a:r>
              <a:rPr dirty="0" err="1"/>
              <a:t>Personenprofile</a:t>
            </a:r>
            <a:r>
              <a:rPr dirty="0"/>
              <a:t> </a:t>
            </a:r>
            <a:r>
              <a:rPr dirty="0" err="1"/>
              <a:t>prüfen</a:t>
            </a:r>
            <a:r>
              <a:rPr dirty="0"/>
              <a:t> </a:t>
            </a:r>
            <a:r>
              <a:rPr dirty="0" err="1"/>
              <a:t>müssen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 err="1"/>
              <a:t>Studierende</a:t>
            </a:r>
            <a:r>
              <a:rPr dirty="0"/>
              <a:t> und </a:t>
            </a:r>
            <a:r>
              <a:rPr dirty="0" err="1"/>
              <a:t>Journalisten</a:t>
            </a:r>
            <a:r>
              <a:rPr dirty="0"/>
              <a:t> für </a:t>
            </a:r>
            <a:r>
              <a:rPr dirty="0" err="1"/>
              <a:t>Recherchezwecke</a:t>
            </a:r>
            <a:r>
              <a:rPr dirty="0"/>
              <a:t>.</a:t>
            </a:r>
            <a:endParaRPr lang="de-DE" dirty="0"/>
          </a:p>
          <a:p>
            <a:pPr>
              <a:defRPr sz="1800"/>
            </a:pPr>
            <a:r>
              <a:rPr lang="de-DE" dirty="0"/>
              <a:t>Allgemein Menschen, die sich über den Hintergrund (Lebenslauf) einer anderen Person informieren möchten</a:t>
            </a:r>
            <a:endParaRPr dirty="0"/>
          </a:p>
          <a:p>
            <a:pPr marL="0" indent="0">
              <a:buNone/>
              <a:defRPr sz="1800"/>
            </a:pPr>
            <a:r>
              <a:rPr dirty="0"/>
              <a:t>→ </a:t>
            </a:r>
            <a:r>
              <a:rPr sz="2000" dirty="0" err="1"/>
              <a:t>Zeitersparnis</a:t>
            </a:r>
            <a:r>
              <a:rPr sz="2000" dirty="0"/>
              <a:t>, </a:t>
            </a:r>
            <a:r>
              <a:rPr sz="2000" dirty="0" err="1"/>
              <a:t>Transparenz</a:t>
            </a:r>
            <a:r>
              <a:rPr sz="2000" dirty="0"/>
              <a:t>, </a:t>
            </a:r>
            <a:r>
              <a:rPr sz="2000" dirty="0" err="1"/>
              <a:t>faktenbasierte</a:t>
            </a:r>
            <a:r>
              <a:rPr sz="2000" dirty="0"/>
              <a:t> </a:t>
            </a:r>
            <a:r>
              <a:rPr sz="2000" dirty="0" err="1"/>
              <a:t>Entscheidungen</a:t>
            </a:r>
            <a:r>
              <a:rPr sz="2000" dirty="0"/>
              <a:t>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215395"/>
            <a:ext cx="7429499" cy="1478570"/>
          </a:xfrm>
        </p:spPr>
        <p:txBody>
          <a:bodyPr/>
          <a:lstStyle/>
          <a:p>
            <a:r>
              <a:rPr dirty="0" err="1"/>
              <a:t>Projektplan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6060" y="1600200"/>
            <a:ext cx="7830740" cy="4800600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  <a:defRPr sz="1800"/>
            </a:pPr>
            <a:r>
              <a:rPr lang="de-DE" dirty="0"/>
              <a:t>1. </a:t>
            </a:r>
            <a:r>
              <a:rPr dirty="0"/>
              <a:t>Milestone 1 – </a:t>
            </a:r>
            <a:r>
              <a:rPr lang="de-DE" dirty="0"/>
              <a:t>Projektplan und Technologie </a:t>
            </a:r>
            <a:endParaRPr dirty="0"/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dirty="0"/>
              <a:t> </a:t>
            </a:r>
            <a:r>
              <a:rPr lang="de-DE" dirty="0"/>
              <a:t>Tech Stack festlegen</a:t>
            </a:r>
            <a:r>
              <a:rPr dirty="0"/>
              <a:t> (Python, </a:t>
            </a:r>
            <a:r>
              <a:rPr dirty="0" err="1"/>
              <a:t>FastAPI</a:t>
            </a:r>
            <a:r>
              <a:rPr dirty="0"/>
              <a:t>, Playwright, </a:t>
            </a:r>
            <a:r>
              <a:rPr dirty="0" err="1"/>
              <a:t>WeasyPrint</a:t>
            </a:r>
            <a:r>
              <a:rPr dirty="0"/>
              <a:t>)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dirty="0"/>
              <a:t> </a:t>
            </a:r>
            <a:r>
              <a:rPr lang="de-DE" dirty="0"/>
              <a:t>Projektstruktur und Verantwortlichkeiten festlegen</a:t>
            </a:r>
            <a:endParaRPr dirty="0"/>
          </a:p>
          <a:p>
            <a:pPr marL="0" indent="0">
              <a:buNone/>
              <a:defRPr sz="1800"/>
            </a:pPr>
            <a:r>
              <a:rPr lang="de-DE" dirty="0"/>
              <a:t>2. </a:t>
            </a:r>
            <a:r>
              <a:rPr dirty="0"/>
              <a:t>Milestone 2 – </a:t>
            </a:r>
            <a:r>
              <a:rPr lang="de-DE" dirty="0"/>
              <a:t>erster Prototyp</a:t>
            </a:r>
            <a:endParaRPr dirty="0"/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 CSV-Upload und Validierung implementieren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Einfaches </a:t>
            </a:r>
            <a:r>
              <a:rPr lang="de-DE" dirty="0" err="1"/>
              <a:t>Scraping</a:t>
            </a:r>
            <a:r>
              <a:rPr lang="de-DE" dirty="0"/>
              <a:t> (1–2 Quellen pro Person)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Regelbasierte Informationsextraktion (Name, Firma, Rolle)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Erste PDF-Generierung mit </a:t>
            </a:r>
            <a:r>
              <a:rPr lang="de-DE" dirty="0" err="1"/>
              <a:t>WeasyPrintUnit</a:t>
            </a:r>
            <a:r>
              <a:rPr lang="de-DE" dirty="0"/>
              <a:t>- und API-Tests mit </a:t>
            </a:r>
            <a:r>
              <a:rPr lang="de-DE" dirty="0" err="1"/>
              <a:t>pytest</a:t>
            </a:r>
            <a:endParaRPr dirty="0"/>
          </a:p>
          <a:p>
            <a:pPr marL="0" indent="0">
              <a:buNone/>
              <a:defRPr sz="1800"/>
            </a:pPr>
            <a:r>
              <a:rPr lang="de-DE" dirty="0"/>
              <a:t>3. </a:t>
            </a:r>
            <a:r>
              <a:rPr dirty="0"/>
              <a:t>Milestone 3 –</a:t>
            </a:r>
            <a:r>
              <a:rPr lang="de-DE" dirty="0"/>
              <a:t> zweiter Prototyp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Erweiterung der Pipeline um mehrere Quellen 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Einführung einer einfachen Bewertung von Quellen (Confidence Score)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Datenbank-Anbindung (PostgreSQL für Fakten und Rohdaten)</a:t>
            </a:r>
          </a:p>
          <a:p>
            <a:pPr>
              <a:buFont typeface="Wingdings" panose="05000000000000000000" pitchFamily="2" charset="2"/>
              <a:buChar char="Ø"/>
              <a:defRPr sz="1800"/>
            </a:pPr>
            <a:r>
              <a:rPr lang="de-DE" dirty="0"/>
              <a:t>Vorbereitung auf LLM-Integration in späteren Prototypen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Technologieübersicht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3394" y="1600200"/>
            <a:ext cx="7713406" cy="4898923"/>
          </a:xfrm>
        </p:spPr>
        <p:txBody>
          <a:bodyPr>
            <a:normAutofit fontScale="55000" lnSpcReduction="20000"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Python 3.11+</a:t>
            </a:r>
          </a:p>
          <a:p>
            <a:pPr marL="0" indent="0">
              <a:buNone/>
            </a:pPr>
            <a:r>
              <a:rPr lang="de-DE" dirty="0"/>
              <a:t>	Hauptsprache – ideal für KI, Datenverarbeitung &amp; Web </a:t>
            </a:r>
            <a:r>
              <a:rPr lang="de-DE" dirty="0" err="1"/>
              <a:t>Scraping</a:t>
            </a:r>
            <a:r>
              <a:rPr lang="de-DE" dirty="0"/>
              <a:t>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 err="1"/>
              <a:t>FastAPI</a:t>
            </a:r>
            <a:r>
              <a:rPr lang="de-DE" dirty="0"/>
              <a:t> (Backend &amp; REST-API)</a:t>
            </a:r>
          </a:p>
          <a:p>
            <a:pPr marL="0" indent="0">
              <a:buNone/>
            </a:pPr>
            <a:r>
              <a:rPr lang="de-DE" dirty="0"/>
              <a:t>	Zentrale Schnittstelle: nimmt Eingaben entgegen &amp; steuert Verarbeitung.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 err="1"/>
              <a:t>Playwright</a:t>
            </a:r>
            <a:r>
              <a:rPr lang="de-DE" dirty="0"/>
              <a:t> + </a:t>
            </a:r>
            <a:r>
              <a:rPr lang="de-DE" dirty="0" err="1"/>
              <a:t>BeautifulSoup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	</a:t>
            </a:r>
            <a:r>
              <a:rPr lang="de-DE" dirty="0" err="1"/>
              <a:t>Playwright</a:t>
            </a:r>
            <a:r>
              <a:rPr lang="de-DE" dirty="0"/>
              <a:t> lädt Webseiten automatisiert,</a:t>
            </a:r>
          </a:p>
          <a:p>
            <a:pPr marL="0" indent="0">
              <a:buNone/>
            </a:pPr>
            <a:r>
              <a:rPr lang="de-DE" dirty="0"/>
              <a:t>	</a:t>
            </a:r>
            <a:r>
              <a:rPr lang="de-DE" dirty="0" err="1"/>
              <a:t>BeautifulSoup</a:t>
            </a:r>
            <a:r>
              <a:rPr lang="de-DE" dirty="0"/>
              <a:t> filtert &amp; extrahiert relevante Inhalte.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Information </a:t>
            </a:r>
            <a:r>
              <a:rPr lang="de-DE" dirty="0" err="1"/>
              <a:t>Extraction</a:t>
            </a:r>
            <a:r>
              <a:rPr lang="de-DE" dirty="0"/>
              <a:t> (IE)</a:t>
            </a:r>
          </a:p>
          <a:p>
            <a:pPr marL="0" indent="0">
              <a:buNone/>
            </a:pPr>
            <a:r>
              <a:rPr lang="de-DE" dirty="0"/>
              <a:t>	Anfangs </a:t>
            </a:r>
            <a:r>
              <a:rPr lang="de-DE" dirty="0" err="1"/>
              <a:t>Regex</a:t>
            </a:r>
            <a:r>
              <a:rPr lang="de-DE" dirty="0"/>
              <a:t>-Regeln, später KI-Modelle für komplexere Fakten.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/>
              <a:t>PostgreSQL + </a:t>
            </a:r>
            <a:r>
              <a:rPr lang="de-DE" dirty="0" err="1"/>
              <a:t>SQLAlchemy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	Speicherung strukturierter Fakten &amp; Quellen in der Datenbank.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 err="1"/>
              <a:t>WeasyPrint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	Erstellt automatisch formatierte PDF-Fact-Sheets aus HTML-Vorlagen.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DE" dirty="0" err="1"/>
              <a:t>pytest</a:t>
            </a:r>
            <a:r>
              <a:rPr lang="de-DE" dirty="0"/>
              <a:t>, </a:t>
            </a:r>
            <a:r>
              <a:rPr lang="de-DE" dirty="0" err="1"/>
              <a:t>black</a:t>
            </a:r>
            <a:r>
              <a:rPr lang="de-DE" dirty="0"/>
              <a:t>, </a:t>
            </a:r>
            <a:r>
              <a:rPr lang="de-DE" dirty="0" err="1"/>
              <a:t>ruff</a:t>
            </a:r>
            <a:r>
              <a:rPr lang="de-DE" dirty="0"/>
              <a:t>, GitHub</a:t>
            </a:r>
          </a:p>
          <a:p>
            <a:pPr marL="0" indent="0">
              <a:buNone/>
            </a:pPr>
            <a:r>
              <a:rPr lang="de-DE" dirty="0"/>
              <a:t>	Tests, Code-Qualität &amp; Team-Kollaboration bzw. Versionskontrolle.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Datenfluss (Beispiel)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dirty="0"/>
              <a:t>1. </a:t>
            </a:r>
            <a:r>
              <a:rPr dirty="0" err="1"/>
              <a:t>Benutzer</a:t>
            </a:r>
            <a:r>
              <a:rPr dirty="0"/>
              <a:t> </a:t>
            </a:r>
            <a:r>
              <a:rPr dirty="0" err="1"/>
              <a:t>lädt</a:t>
            </a:r>
            <a:r>
              <a:rPr dirty="0"/>
              <a:t> CSV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Namen</a:t>
            </a:r>
            <a:r>
              <a:rPr dirty="0"/>
              <a:t> </a:t>
            </a:r>
            <a:r>
              <a:rPr dirty="0" err="1"/>
              <a:t>hoch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/>
              <a:t>2. </a:t>
            </a:r>
            <a:r>
              <a:rPr dirty="0" err="1"/>
              <a:t>FastAPI</a:t>
            </a:r>
            <a:r>
              <a:rPr dirty="0"/>
              <a:t> </a:t>
            </a:r>
            <a:r>
              <a:rPr dirty="0" err="1"/>
              <a:t>validiert</a:t>
            </a:r>
            <a:r>
              <a:rPr dirty="0"/>
              <a:t> </a:t>
            </a:r>
            <a:r>
              <a:rPr dirty="0" err="1"/>
              <a:t>Eingabe</a:t>
            </a:r>
            <a:r>
              <a:rPr dirty="0"/>
              <a:t> und </a:t>
            </a:r>
            <a:r>
              <a:rPr dirty="0" err="1"/>
              <a:t>startet</a:t>
            </a:r>
            <a:r>
              <a:rPr dirty="0"/>
              <a:t> Pipeline.</a:t>
            </a:r>
          </a:p>
          <a:p>
            <a:pPr>
              <a:defRPr sz="1800"/>
            </a:pPr>
            <a:r>
              <a:rPr dirty="0"/>
              <a:t>3. Scraper (Playwright) </a:t>
            </a:r>
            <a:r>
              <a:rPr dirty="0" err="1"/>
              <a:t>ruft</a:t>
            </a:r>
            <a:r>
              <a:rPr dirty="0"/>
              <a:t> </a:t>
            </a:r>
            <a:r>
              <a:rPr dirty="0" err="1"/>
              <a:t>öffentliche</a:t>
            </a:r>
            <a:r>
              <a:rPr dirty="0"/>
              <a:t> </a:t>
            </a:r>
            <a:r>
              <a:rPr dirty="0" err="1"/>
              <a:t>Quellen</a:t>
            </a:r>
            <a:r>
              <a:rPr dirty="0"/>
              <a:t> auf.</a:t>
            </a:r>
          </a:p>
          <a:p>
            <a:pPr>
              <a:defRPr sz="1800"/>
            </a:pPr>
            <a:r>
              <a:rPr dirty="0"/>
              <a:t>4. Text </a:t>
            </a:r>
            <a:r>
              <a:rPr dirty="0" err="1"/>
              <a:t>wird</a:t>
            </a:r>
            <a:r>
              <a:rPr dirty="0"/>
              <a:t> </a:t>
            </a:r>
            <a:r>
              <a:rPr dirty="0" err="1"/>
              <a:t>bereinigt</a:t>
            </a:r>
            <a:r>
              <a:rPr dirty="0"/>
              <a:t>, </a:t>
            </a:r>
            <a:r>
              <a:rPr dirty="0" err="1"/>
              <a:t>Fakten</a:t>
            </a:r>
            <a:r>
              <a:rPr dirty="0"/>
              <a:t> per Regex </a:t>
            </a:r>
            <a:r>
              <a:rPr dirty="0" err="1"/>
              <a:t>erkannt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/>
              <a:t>5. PDF-Fact Sheet </a:t>
            </a:r>
            <a:r>
              <a:rPr dirty="0" err="1"/>
              <a:t>wird</a:t>
            </a:r>
            <a:r>
              <a:rPr dirty="0"/>
              <a:t> </a:t>
            </a:r>
            <a:r>
              <a:rPr dirty="0" err="1"/>
              <a:t>generiert</a:t>
            </a:r>
            <a:r>
              <a:rPr dirty="0"/>
              <a:t> und </a:t>
            </a:r>
            <a:r>
              <a:rPr dirty="0" err="1"/>
              <a:t>gespeichert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/>
              <a:t>6. </a:t>
            </a:r>
            <a:r>
              <a:rPr dirty="0" err="1"/>
              <a:t>Ergebnis</a:t>
            </a:r>
            <a:r>
              <a:rPr dirty="0"/>
              <a:t> </a:t>
            </a:r>
            <a:r>
              <a:rPr dirty="0" err="1"/>
              <a:t>abrufbar</a:t>
            </a:r>
            <a:r>
              <a:rPr dirty="0"/>
              <a:t> </a:t>
            </a:r>
            <a:r>
              <a:rPr dirty="0" err="1"/>
              <a:t>über</a:t>
            </a:r>
            <a:r>
              <a:rPr dirty="0"/>
              <a:t> Web-Interface.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Risiken &amp; Gegenmaßnahmen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dirty="0"/>
              <a:t>Scraping-Fehler → Retry-</a:t>
            </a:r>
            <a:r>
              <a:rPr dirty="0" err="1"/>
              <a:t>Mechanismen</a:t>
            </a:r>
            <a:r>
              <a:rPr dirty="0"/>
              <a:t>, Logging, Timeout.</a:t>
            </a:r>
          </a:p>
          <a:p>
            <a:pPr>
              <a:defRPr sz="1800"/>
            </a:pPr>
            <a:r>
              <a:rPr dirty="0" err="1"/>
              <a:t>Datenqualität</a:t>
            </a:r>
            <a:r>
              <a:rPr dirty="0"/>
              <a:t> → </a:t>
            </a:r>
            <a:r>
              <a:rPr dirty="0" err="1"/>
              <a:t>Bewertung</a:t>
            </a:r>
            <a:r>
              <a:rPr dirty="0"/>
              <a:t> der </a:t>
            </a:r>
            <a:r>
              <a:rPr dirty="0" err="1"/>
              <a:t>Quellen</a:t>
            </a:r>
            <a:r>
              <a:rPr dirty="0"/>
              <a:t> (Confidence Score).</a:t>
            </a:r>
          </a:p>
          <a:p>
            <a:pPr>
              <a:defRPr sz="1800"/>
            </a:pPr>
            <a:r>
              <a:rPr dirty="0"/>
              <a:t>Datenschutz (DSGVO) → Nur </a:t>
            </a:r>
            <a:r>
              <a:rPr dirty="0" err="1"/>
              <a:t>öffentliche</a:t>
            </a:r>
            <a:r>
              <a:rPr dirty="0"/>
              <a:t> </a:t>
            </a:r>
            <a:r>
              <a:rPr dirty="0" err="1"/>
              <a:t>Quellen</a:t>
            </a:r>
            <a:r>
              <a:rPr dirty="0"/>
              <a:t>, </a:t>
            </a:r>
            <a:r>
              <a:rPr dirty="0" err="1"/>
              <a:t>keine</a:t>
            </a:r>
            <a:r>
              <a:rPr dirty="0"/>
              <a:t> PII-Logs.</a:t>
            </a:r>
          </a:p>
          <a:p>
            <a:pPr>
              <a:defRPr sz="1800"/>
            </a:pPr>
            <a:r>
              <a:rPr dirty="0" err="1"/>
              <a:t>Zeitplanrisiko</a:t>
            </a:r>
            <a:r>
              <a:rPr dirty="0"/>
              <a:t> → Agile </a:t>
            </a:r>
            <a:r>
              <a:rPr dirty="0" err="1"/>
              <a:t>Entwicklung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klaren</a:t>
            </a:r>
            <a:r>
              <a:rPr dirty="0"/>
              <a:t> Milestones.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Ausblick &amp; 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rPr dirty="0" err="1"/>
              <a:t>Ausbau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einem</a:t>
            </a:r>
            <a:r>
              <a:rPr dirty="0"/>
              <a:t> </a:t>
            </a:r>
            <a:r>
              <a:rPr dirty="0" err="1"/>
              <a:t>intelligenten</a:t>
            </a:r>
            <a:r>
              <a:rPr dirty="0"/>
              <a:t> OSINT-</a:t>
            </a:r>
            <a:r>
              <a:rPr dirty="0" err="1"/>
              <a:t>Agenten</a:t>
            </a:r>
            <a:r>
              <a:rPr dirty="0"/>
              <a:t>-System.</a:t>
            </a:r>
          </a:p>
          <a:p>
            <a:pPr>
              <a:defRPr sz="1800"/>
            </a:pPr>
            <a:r>
              <a:rPr dirty="0"/>
              <a:t>LLM-Integration </a:t>
            </a:r>
            <a:r>
              <a:rPr dirty="0" err="1"/>
              <a:t>zur</a:t>
            </a:r>
            <a:r>
              <a:rPr dirty="0"/>
              <a:t> </a:t>
            </a:r>
            <a:r>
              <a:rPr dirty="0" err="1"/>
              <a:t>automatischen</a:t>
            </a:r>
            <a:r>
              <a:rPr dirty="0"/>
              <a:t> </a:t>
            </a:r>
            <a:r>
              <a:rPr dirty="0" err="1"/>
              <a:t>Textzusammenfassung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/>
              <a:t>Dashboard </a:t>
            </a:r>
            <a:r>
              <a:rPr dirty="0" err="1"/>
              <a:t>mit</a:t>
            </a:r>
            <a:r>
              <a:rPr dirty="0"/>
              <a:t> Echtzeit-Status &amp; </a:t>
            </a:r>
            <a:r>
              <a:rPr dirty="0" err="1"/>
              <a:t>Quellenanalyse</a:t>
            </a:r>
            <a:r>
              <a:rPr dirty="0"/>
              <a:t>.</a:t>
            </a:r>
          </a:p>
          <a:p>
            <a:pPr>
              <a:defRPr sz="1800"/>
            </a:pPr>
            <a:r>
              <a:rPr dirty="0"/>
              <a:t>Open-Source-Basis für Forschung und </a:t>
            </a:r>
            <a:r>
              <a:rPr dirty="0" err="1"/>
              <a:t>Lehrzwecke</a:t>
            </a:r>
            <a:r>
              <a:rPr dirty="0"/>
              <a:t> an der HAW Hamburg.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</p:transition>
    </mc:Choice>
    <mc:Fallback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chaltkreis">
  <a:themeElements>
    <a:clrScheme name="Schaltkreis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Benutzerdefinier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chaltkreis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TM04033919[[fn=Schaltkreis]]</Template>
  <TotalTime>0</TotalTime>
  <Words>578</Words>
  <Application>Microsoft Office PowerPoint</Application>
  <PresentationFormat>Bildschirmpräsentation (4:3)</PresentationFormat>
  <Paragraphs>70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2" baseType="lpstr">
      <vt:lpstr>Arial</vt:lpstr>
      <vt:lpstr>Wingdings</vt:lpstr>
      <vt:lpstr>Schaltkreis</vt:lpstr>
      <vt:lpstr>LookUpAI – KI-basierte Personenrecherche</vt:lpstr>
      <vt:lpstr>Team &amp; Rollen</vt:lpstr>
      <vt:lpstr>Projektidee</vt:lpstr>
      <vt:lpstr>Zielgruppe &amp; Nutzen</vt:lpstr>
      <vt:lpstr>Projektplan</vt:lpstr>
      <vt:lpstr>Technologieübersicht</vt:lpstr>
      <vt:lpstr>Datenfluss (Beispiel)</vt:lpstr>
      <vt:lpstr>Risiken &amp; Gegenmaßnahmen</vt:lpstr>
      <vt:lpstr>Ausblick &amp; Vision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ak</dc:creator>
  <cp:keywords/>
  <dc:description>generated using python-pptx</dc:description>
  <cp:lastModifiedBy>Kalaf, Ahmad</cp:lastModifiedBy>
  <cp:revision>2</cp:revision>
  <dcterms:created xsi:type="dcterms:W3CDTF">2013-01-27T09:14:16Z</dcterms:created>
  <dcterms:modified xsi:type="dcterms:W3CDTF">2025-10-27T05:59:35Z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2025-10-27T05:27:22Z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2c6cac8d-ab61-47b3-8209-4df2e46aefbc</vt:lpwstr>
  </property>
  <property fmtid="{D5CDD505-2E9C-101B-9397-08002B2CF9AE}" pid="7" name="MSIP_Label_defa4170-0d19-0005-0004-bc88714345d2_ActionId">
    <vt:lpwstr>113db9bd-36a3-4d01-b97a-3bbcd3cea220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