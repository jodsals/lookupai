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6E2"/>
    <a:srgbClr val="9CA3AF"/>
    <a:srgbClr val="3B82F6"/>
    <a:srgbClr val="F69E0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>
        <p:scale>
          <a:sx n="154" d="100"/>
          <a:sy n="154" d="100"/>
        </p:scale>
        <p:origin x="-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42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60A5F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86" b="86"/>
          <a:stretch/>
        </p:blipFill>
        <p:spPr>
          <a:xfrm>
            <a:off x="761695" y="779069"/>
            <a:ext cx="1619402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4915730"/>
            <a:ext cx="3105302" cy="1152144"/>
          </a:xfrm>
          <a:prstGeom prst="roundRect">
            <a:avLst>
              <a:gd name="adj" fmla="val 1049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1000354" y="5153474"/>
            <a:ext cx="418795" cy="457200"/>
          </a:xfrm>
          <a:prstGeom prst="roundRect">
            <a:avLst>
              <a:gd name="adj" fmla="val 3969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4089197" y="4915730"/>
            <a:ext cx="3105302" cy="1152144"/>
          </a:xfrm>
          <a:prstGeom prst="roundRect">
            <a:avLst>
              <a:gd name="adj" fmla="val 1049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327855" y="5153474"/>
            <a:ext cx="448056" cy="457200"/>
          </a:xfrm>
          <a:prstGeom prst="roundRect">
            <a:avLst>
              <a:gd name="adj" fmla="val 3473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7416698" y="4915730"/>
            <a:ext cx="3105302" cy="1152144"/>
          </a:xfrm>
          <a:prstGeom prst="roundRect">
            <a:avLst>
              <a:gd name="adj" fmla="val 1049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7654442" y="5153474"/>
            <a:ext cx="466344" cy="4572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9"/>
          <p:cNvSpPr txBox="1"/>
          <p:nvPr/>
        </p:nvSpPr>
        <p:spPr>
          <a:xfrm>
            <a:off x="761695" y="1588313"/>
            <a:ext cx="6839712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Von einem Prompt zur verlässlichen Biografie</a:t>
            </a:r>
            <a:endParaRPr lang="en-US" sz="45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3207715"/>
            <a:ext cx="6563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LookUpAI liefert strukturierte Fakten, transparente Quellen und einen Confidence Score – in Sekunden.</a:t>
            </a:r>
            <a:endParaRPr lang="en-US" sz="2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4654" y="5273260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571854" y="5182735"/>
            <a:ext cx="1748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Produktvorstellung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571854" y="5468028"/>
            <a:ext cx="20244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Problem, Lösung &amp; </a:t>
            </a:r>
            <a:r>
              <a:rPr lang="en-US" sz="1400" dirty="0" err="1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442155" y="5273260"/>
            <a:ext cx="219456" cy="19019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27702" y="5182735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4927702" y="5468028"/>
            <a:ext cx="18909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Für Sales, HR, Research und Investoren.</a:t>
            </a:r>
            <a:endParaRPr lang="en-US" sz="14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68742" y="5273260"/>
            <a:ext cx="237744" cy="19019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274406" y="5182735"/>
            <a:ext cx="10049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8274406" y="5468028"/>
            <a:ext cx="20528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Erleben Sie LookUpAI direkt im Einsatz.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5895" y="7315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952805" y="562356"/>
            <a:ext cx="10325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Suche liefert Links, nicht Vertrauen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52805" y="1291133"/>
            <a:ext cx="84774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Warum die klassische Recherche im Business-Kontext heute an ihre Grenzen stößt.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1201" y="2387994"/>
            <a:ext cx="444126" cy="447586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1030" y="2495012"/>
            <a:ext cx="224465" cy="2244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7495" y="2417674"/>
            <a:ext cx="51252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Informationen über Personen sind oft verteilt, widersprüchlich und schwer überprüfbar.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1201" y="3324993"/>
            <a:ext cx="444126" cy="447586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031" y="3407070"/>
            <a:ext cx="224465" cy="2244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47495" y="3338932"/>
            <a:ext cx="456285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Suchmaschinen liefern nur Rohdaten – Bewertung und Konsistenz bleiben beim Nutzer hängen.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23071" y="4694999"/>
            <a:ext cx="444126" cy="447586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061125" y="4806559"/>
            <a:ext cx="168013" cy="2244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7495" y="4553435"/>
            <a:ext cx="49533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Manuelle Recherche kostet wertvolle Zeit und birgt Reputationsrisiken durch veraltete Daten.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998818" y="2388413"/>
            <a:ext cx="4438498" cy="4095598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7582076" y="2778862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7791474" y="3007462"/>
            <a:ext cx="342900" cy="3044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61105" y="3680460"/>
            <a:ext cx="1191397" cy="18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Fragmentiert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8901226" y="2785878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9149029" y="3014478"/>
            <a:ext cx="267005" cy="3044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599074" y="3680460"/>
            <a:ext cx="1489501" cy="18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Widersprüchlich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10220376" y="2787877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448976" y="3016477"/>
            <a:ext cx="304495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164470" y="3680460"/>
            <a:ext cx="967818" cy="18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Ungeprüft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7389266" y="4934102"/>
            <a:ext cx="3657600" cy="1152144"/>
          </a:xfrm>
          <a:prstGeom prst="roundRect">
            <a:avLst>
              <a:gd name="adj" fmla="val 16773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19"/>
          <p:cNvSpPr/>
          <p:nvPr/>
        </p:nvSpPr>
        <p:spPr>
          <a:xfrm flipH="1">
            <a:off x="7404600" y="5016117"/>
            <a:ext cx="45719" cy="99157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9567" y="5217096"/>
            <a:ext cx="171907" cy="17190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902840" y="5142585"/>
            <a:ext cx="289222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Business-Kontext (Sales, HR, Investoren) fehlen verlässliche Entscheidungsgrundlagen.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2563EB">
              <a:alpha val="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3799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90449"/>
            <a:ext cx="12673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LookUpAI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374594" y="437998"/>
            <a:ext cx="1355329" cy="19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Lösung &amp; Nutzen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5094122"/>
            <a:ext cx="15270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62295" y="1647749"/>
            <a:ext cx="6057900" cy="1276502"/>
          </a:xfrm>
          <a:prstGeom prst="roundRect">
            <a:avLst>
              <a:gd name="adj" fmla="val 641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6"/>
          <p:cNvSpPr/>
          <p:nvPr/>
        </p:nvSpPr>
        <p:spPr>
          <a:xfrm>
            <a:off x="5562295" y="1647749"/>
            <a:ext cx="57607" cy="12765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5848502" y="1876349"/>
            <a:ext cx="457200" cy="45720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967374" y="2009851"/>
            <a:ext cx="219456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562295" y="3152851"/>
            <a:ext cx="6057900" cy="1276502"/>
          </a:xfrm>
          <a:prstGeom prst="roundRect">
            <a:avLst>
              <a:gd name="adj" fmla="val 641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9"/>
          <p:cNvSpPr/>
          <p:nvPr/>
        </p:nvSpPr>
        <p:spPr>
          <a:xfrm>
            <a:off x="5562295" y="3152851"/>
            <a:ext cx="57607" cy="12765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0"/>
          <p:cNvSpPr/>
          <p:nvPr/>
        </p:nvSpPr>
        <p:spPr>
          <a:xfrm>
            <a:off x="5848502" y="3381451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05779" y="3514954"/>
            <a:ext cx="142646" cy="19019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62295" y="4657954"/>
            <a:ext cx="6057900" cy="1276502"/>
          </a:xfrm>
          <a:prstGeom prst="roundRect">
            <a:avLst>
              <a:gd name="adj" fmla="val 641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2"/>
          <p:cNvSpPr/>
          <p:nvPr/>
        </p:nvSpPr>
        <p:spPr>
          <a:xfrm>
            <a:off x="5562295" y="4657954"/>
            <a:ext cx="57607" cy="127650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3"/>
          <p:cNvSpPr/>
          <p:nvPr/>
        </p:nvSpPr>
        <p:spPr>
          <a:xfrm>
            <a:off x="5848502" y="4886554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2005" y="5020056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71500" y="2221078"/>
            <a:ext cx="4058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Antworten statt Linklisten.</a:t>
            </a:r>
            <a:endParaRPr lang="en-US" sz="36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3569818"/>
            <a:ext cx="39721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verwandeln einen einfachen Prompt in natürlicher Sprache durch automatische Recherche und Bewertung in verlässliches Wissen.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838505" y="5074920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Strukturierte Biografie statt Textwüste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6495898" y="1886407"/>
            <a:ext cx="20517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Mehrere Quellen</a:t>
            </a:r>
            <a:endParaRPr lang="en-US" dirty="0"/>
          </a:p>
        </p:txBody>
      </p:sp>
      <p:sp>
        <p:nvSpPr>
          <p:cNvPr id="25" name="Text 18"/>
          <p:cNvSpPr txBox="1"/>
          <p:nvPr/>
        </p:nvSpPr>
        <p:spPr>
          <a:xfrm>
            <a:off x="6495898" y="2257654"/>
            <a:ext cx="46012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Automatische Konsolidierung aus mindestens 3 unabhängigen Quellen für maximale Objektivität.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495897" y="3390595"/>
            <a:ext cx="3049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Klare Zusammenfassung</a:t>
            </a:r>
            <a:endParaRPr lang="en-US" dirty="0"/>
          </a:p>
        </p:txBody>
      </p:sp>
      <p:sp>
        <p:nvSpPr>
          <p:cNvPr id="27" name="Text 20"/>
          <p:cNvSpPr txBox="1"/>
          <p:nvPr/>
        </p:nvSpPr>
        <p:spPr>
          <a:xfrm>
            <a:off x="6495898" y="3762756"/>
            <a:ext cx="42675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prägnante, gut lesbare Kurzbiografie ohne unnötiges Rauschen.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495898" y="4895698"/>
            <a:ext cx="38786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Transparenter Confidence Score</a:t>
            </a:r>
            <a:endParaRPr lang="en-US" dirty="0"/>
          </a:p>
        </p:txBody>
      </p:sp>
      <p:sp>
        <p:nvSpPr>
          <p:cNvPr id="29" name="Text 22"/>
          <p:cNvSpPr txBox="1"/>
          <p:nvPr/>
        </p:nvSpPr>
        <p:spPr>
          <a:xfrm>
            <a:off x="6495898" y="5266944"/>
            <a:ext cx="46012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Keine Blackbox: Wir zeigen offen, wie sicher und belastbar die gefundenen Informationen sind.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889797" y="0"/>
            <a:ext cx="4067251" cy="6858000"/>
          </a:xfrm>
          <a:prstGeom prst="rect">
            <a:avLst/>
          </a:prstGeom>
          <a:solidFill>
            <a:srgbClr val="EFF6FF">
              <a:alpha val="3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09905" y="4956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761695" y="4572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24205"/>
            <a:ext cx="59728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Intelligenz statt nur Suche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466698"/>
            <a:ext cx="64584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liefern nicht einfach nur Links. LookUpAI versteht den Kontext und schafft Vertrauen durch Transparenz.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2438705"/>
            <a:ext cx="3457346" cy="340065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0" dist="381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23544" y="27523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061618" y="2905049"/>
            <a:ext cx="256946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23544" y="3933749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369003" y="2438705"/>
            <a:ext cx="3457346" cy="340065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0" dist="381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682642" y="27523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4820717" y="2905049"/>
            <a:ext cx="256946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82642" y="3933749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128102" y="2438705"/>
            <a:ext cx="3457346" cy="340065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0" dist="381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8442655" y="275234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94446" y="2905049"/>
            <a:ext cx="228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442655" y="3933749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5"/>
          <p:cNvSpPr txBox="1"/>
          <p:nvPr/>
        </p:nvSpPr>
        <p:spPr>
          <a:xfrm>
            <a:off x="923544" y="3524098"/>
            <a:ext cx="2772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Intelligentes Clustering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923544" y="4162349"/>
            <a:ext cx="2938882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Löst Mehrdeutigkeiten automatisch auf. Wir erkennen, ob "Michael Müller" der CEO oder der Bäcker ist, und trennen die Profile sauber.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682642" y="3524098"/>
            <a:ext cx="2162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Validierte Quellen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682642" y="4162349"/>
            <a:ext cx="2843784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Keine Halluzinationen. Ein Fakt wird nur übernommen, wenn er durch mindestens 3 unabhängige Quellen bestätigt wurde.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442655" y="3524098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Keine Blackbox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442655" y="4162349"/>
            <a:ext cx="2777033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Confidence Score macht die Verlässlichkeit sofort sichtbar. Jede Aussage ist direkt zur Ursprungsquelle verlinkt.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09905" y="6136538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9700" y="6326734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09905" y="6307531"/>
            <a:ext cx="1243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LookUpAI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239098" y="6307531"/>
            <a:ext cx="2453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Verlässlich. Strukturiert. 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ekrümmte Verbindung 68">
            <a:extLst>
              <a:ext uri="{FF2B5EF4-FFF2-40B4-BE49-F238E27FC236}">
                <a16:creationId xmlns:a16="http://schemas.microsoft.com/office/drawing/2014/main" id="{A92686EE-FA9D-1A41-E56E-92D1B47ED503}"/>
              </a:ext>
            </a:extLst>
          </p:cNvPr>
          <p:cNvCxnSpPr>
            <a:stCxn id="34" idx="2"/>
          </p:cNvCxnSpPr>
          <p:nvPr/>
        </p:nvCxnSpPr>
        <p:spPr>
          <a:xfrm rot="5400000" flipH="1">
            <a:off x="3794987" y="1680439"/>
            <a:ext cx="544985" cy="4057650"/>
          </a:xfrm>
          <a:prstGeom prst="curvedConnector4">
            <a:avLst>
              <a:gd name="adj1" fmla="val -129760"/>
              <a:gd name="adj2" fmla="val 100126"/>
            </a:avLst>
          </a:prstGeom>
          <a:ln w="22225" cap="rnd">
            <a:solidFill>
              <a:srgbClr val="F69E0B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1"/>
          <p:cNvSpPr/>
          <p:nvPr/>
        </p:nvSpPr>
        <p:spPr>
          <a:xfrm>
            <a:off x="571500" y="1286561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71500" y="400507"/>
            <a:ext cx="30294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funktioniert’s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886054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Vom Prompt zum Factsheet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42855" y="95280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PROZESS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8098" y="3391052"/>
            <a:ext cx="9048902" cy="45719"/>
          </a:xfrm>
          <a:prstGeom prst="roundRect">
            <a:avLst>
              <a:gd name="adj" fmla="val 2150568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0906049" y="4657954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829154" y="5238598"/>
            <a:ext cx="114300" cy="95098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67658" y="4467302"/>
            <a:ext cx="1619402" cy="409651"/>
          </a:xfrm>
          <a:prstGeom prst="roundRect">
            <a:avLst>
              <a:gd name="adj" fmla="val 41528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38100" dist="25400" dir="5400000" algn="bl" rotWithShape="0">
              <a:srgbClr val="F59E0B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4425" y="4594779"/>
            <a:ext cx="140980" cy="1409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952951" y="4519063"/>
            <a:ext cx="13075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Unsicher</a:t>
            </a:r>
            <a:r>
              <a:rPr lang="en-US" sz="11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952951" y="4670299"/>
            <a:ext cx="11649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User-Hinweis Loop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047902" y="2962200"/>
            <a:ext cx="381305" cy="276149"/>
          </a:xfrm>
          <a:prstGeom prst="roundRect">
            <a:avLst>
              <a:gd name="adj" fmla="val 3311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2202" y="3022550"/>
            <a:ext cx="15270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40003" y="3339847"/>
            <a:ext cx="700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Prompt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83894" y="3547416"/>
            <a:ext cx="5934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Natürliche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64108" y="3683661"/>
            <a:ext cx="8311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Spracheingabe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190902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2667305" y="2962200"/>
            <a:ext cx="381305" cy="276149"/>
          </a:xfrm>
          <a:prstGeom prst="roundRect">
            <a:avLst>
              <a:gd name="adj" fmla="val 331126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81605" y="3022550"/>
            <a:ext cx="152705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2535631" y="3339847"/>
            <a:ext cx="7479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Parsing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2499055" y="3547416"/>
            <a:ext cx="8028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extrahiert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460650" y="3683661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&amp; Kontext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810305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4"/>
          <p:cNvSpPr/>
          <p:nvPr/>
        </p:nvSpPr>
        <p:spPr>
          <a:xfrm>
            <a:off x="4286707" y="2962200"/>
            <a:ext cx="381305" cy="276149"/>
          </a:xfrm>
          <a:prstGeom prst="roundRect">
            <a:avLst>
              <a:gd name="adj" fmla="val 331126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1007" y="3022550"/>
            <a:ext cx="152705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196182" y="3339847"/>
            <a:ext cx="662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Suche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244645" y="3547416"/>
            <a:ext cx="5458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SerpAPI /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151376" y="3683661"/>
            <a:ext cx="7360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DuckDuckGo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29707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29"/>
          <p:cNvSpPr/>
          <p:nvPr/>
        </p:nvSpPr>
        <p:spPr>
          <a:xfrm>
            <a:off x="5905195" y="2962200"/>
            <a:ext cx="381305" cy="276149"/>
          </a:xfrm>
          <a:prstGeom prst="roundRect">
            <a:avLst>
              <a:gd name="adj" fmla="val 33112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010351" y="3022550"/>
            <a:ext cx="171907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683910" y="3339847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Clustering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5663794" y="3547416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Mehrdeutigkeiten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5863133" y="3683661"/>
            <a:ext cx="5458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erkennen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048195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Shape 34"/>
          <p:cNvSpPr/>
          <p:nvPr/>
        </p:nvSpPr>
        <p:spPr>
          <a:xfrm>
            <a:off x="7524598" y="2962200"/>
            <a:ext cx="381305" cy="276149"/>
          </a:xfrm>
          <a:prstGeom prst="roundRect">
            <a:avLst>
              <a:gd name="adj" fmla="val 331126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658100" y="3022550"/>
            <a:ext cx="114300" cy="15270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296912" y="3339847"/>
            <a:ext cx="939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Fact Sheet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7367321" y="3547416"/>
            <a:ext cx="7836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Verdichtung &amp;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7344461" y="3683661"/>
            <a:ext cx="8220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Quellen-Check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8667598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Shape 39"/>
          <p:cNvSpPr/>
          <p:nvPr/>
        </p:nvSpPr>
        <p:spPr>
          <a:xfrm>
            <a:off x="9144000" y="2962200"/>
            <a:ext cx="381305" cy="276149"/>
          </a:xfrm>
          <a:prstGeom prst="roundRect">
            <a:avLst>
              <a:gd name="adj" fmla="val 331126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9277502" y="3022550"/>
            <a:ext cx="114300" cy="15270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882482" y="3339847"/>
            <a:ext cx="1004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Confidence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9189720" y="3547416"/>
            <a:ext cx="3739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9034272" y="3683661"/>
            <a:ext cx="688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Berechnung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10287000" y="2800351"/>
            <a:ext cx="1333195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3" name="Shape 44"/>
          <p:cNvSpPr/>
          <p:nvPr/>
        </p:nvSpPr>
        <p:spPr>
          <a:xfrm>
            <a:off x="10763402" y="2962200"/>
            <a:ext cx="381305" cy="276149"/>
          </a:xfrm>
          <a:prstGeom prst="roundRect">
            <a:avLst>
              <a:gd name="adj" fmla="val 33112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877702" y="3022550"/>
            <a:ext cx="152705" cy="152705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10665562" y="3339847"/>
            <a:ext cx="681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Output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10802722" y="3547416"/>
            <a:ext cx="3840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&amp;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10763402" y="3683661"/>
            <a:ext cx="470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Historie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571500" y="6048756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Shape 49"/>
          <p:cNvSpPr/>
          <p:nvPr/>
        </p:nvSpPr>
        <p:spPr>
          <a:xfrm>
            <a:off x="571500" y="6324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CBD6E2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50"/>
          <p:cNvSpPr txBox="1"/>
          <p:nvPr/>
        </p:nvSpPr>
        <p:spPr>
          <a:xfrm>
            <a:off x="761695" y="6295644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Flow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1981505" y="63249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59E0B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2" name="Text 52"/>
          <p:cNvSpPr txBox="1"/>
          <p:nvPr/>
        </p:nvSpPr>
        <p:spPr>
          <a:xfrm>
            <a:off x="2171700" y="6295644"/>
            <a:ext cx="1986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Qualitäts-Loop (Präzisierung)</a:t>
            </a:r>
            <a:endParaRPr lang="en-US" sz="11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50324" y="6314846"/>
            <a:ext cx="133502" cy="133502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9659722" y="6295644"/>
            <a:ext cx="2062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"Qualität vor Geschwindigkeit"</a:t>
            </a:r>
            <a:endParaRPr lang="en-US" sz="1200" dirty="0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9BF1D3EE-EE6F-9E8A-2768-0611E454E6EF}"/>
              </a:ext>
            </a:extLst>
          </p:cNvPr>
          <p:cNvSpPr/>
          <p:nvPr/>
        </p:nvSpPr>
        <p:spPr>
          <a:xfrm>
            <a:off x="11071651" y="1000354"/>
            <a:ext cx="323506" cy="45719"/>
          </a:xfrm>
          <a:prstGeom prst="roundRect">
            <a:avLst>
              <a:gd name="adj" fmla="val 2150568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71500" y="371246"/>
            <a:ext cx="35195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&amp; Nutzen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984809"/>
            <a:ext cx="5725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Vom rohen Suchergebnis zum verlässlichen Wissensbaustein.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500" y="1527962"/>
            <a:ext cx="5219395" cy="2057400"/>
          </a:xfrm>
          <a:prstGeom prst="roundRect">
            <a:avLst>
              <a:gd name="adj" fmla="val 1646"/>
            </a:avLst>
          </a:prstGeom>
          <a:solidFill>
            <a:srgbClr val="F8FAFC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71500" y="1527962"/>
            <a:ext cx="38405" cy="20574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7649" y="1827886"/>
            <a:ext cx="333756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7649" y="2337206"/>
            <a:ext cx="2882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Strukturierte Kurzbiografie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7649" y="2643661"/>
            <a:ext cx="46204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Kompakte, narrative Zusammenfassung der wichtigsten Stationen und Rollen – kein manuelles Link-Klicken mehr nötig.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19495" y="1527962"/>
            <a:ext cx="5219395" cy="2057400"/>
          </a:xfrm>
          <a:prstGeom prst="roundRect">
            <a:avLst>
              <a:gd name="adj" fmla="val 1646"/>
            </a:avLst>
          </a:prstGeom>
          <a:solidFill>
            <a:srgbClr val="F8FAFC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6019495" y="1527962"/>
            <a:ext cx="38405" cy="20574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5644" y="1827886"/>
            <a:ext cx="333756" cy="2670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95644" y="2337206"/>
            <a:ext cx="2339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Transparente Quellen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295644" y="2643661"/>
            <a:ext cx="3982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Jeder Fakt ist verlinkt. Keine Halluzinationen, sondern überprüfbare Herkunft direkt aus Websuche und DB.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71500" y="3807562"/>
            <a:ext cx="5219395" cy="2057400"/>
          </a:xfrm>
          <a:prstGeom prst="roundRect">
            <a:avLst>
              <a:gd name="adj" fmla="val 1646"/>
            </a:avLst>
          </a:prstGeom>
          <a:solidFill>
            <a:srgbClr val="F8FAFC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571500" y="3807562"/>
            <a:ext cx="38405" cy="20574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4107485"/>
            <a:ext cx="267005" cy="2670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9" y="4616806"/>
            <a:ext cx="2500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Vorschau &amp; Export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7649" y="4923261"/>
            <a:ext cx="45537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Professionell formatierte Factsheets per Klick herunterladen – ideal für Offline-Meetings oder Dossiers.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019495" y="3807562"/>
            <a:ext cx="5219395" cy="2057400"/>
          </a:xfrm>
          <a:prstGeom prst="roundRect">
            <a:avLst>
              <a:gd name="adj" fmla="val 1646"/>
            </a:avLst>
          </a:prstGeom>
          <a:solidFill>
            <a:srgbClr val="F8FAFC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6019495" y="3807562"/>
            <a:ext cx="38405" cy="20574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95644" y="4107485"/>
            <a:ext cx="267005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95644" y="4616806"/>
            <a:ext cx="1433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Suchhistorie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295644" y="4923261"/>
            <a:ext cx="44293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Letzte Abfragen werden gespeichert. Schnellzugriff auf vergangene Recherchen ohne erneute Generierungskosten.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71500" y="6048756"/>
            <a:ext cx="7619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6286500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0450" y="6267298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Schnellere Vorbereitung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69402" y="6288769"/>
            <a:ext cx="152705" cy="1527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68352" y="6269262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Weniger Risiko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45098" y="6286500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44048" y="6267298"/>
            <a:ext cx="2115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Klarer Entscheidungs-Input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762695" y="5400446"/>
            <a:ext cx="2857500" cy="1076249"/>
          </a:xfrm>
          <a:prstGeom prst="roundRect">
            <a:avLst>
              <a:gd name="adj" fmla="val 9022"/>
            </a:avLst>
          </a:prstGeom>
          <a:solidFill>
            <a:srgbClr val="2B6CB0"/>
          </a:solidFill>
          <a:ln/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048902" y="5777179"/>
            <a:ext cx="381305" cy="3044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620402" y="5619902"/>
            <a:ext cx="10049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9620402" y="5905195"/>
            <a:ext cx="15389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zeigen gleich den kompletten Ablauf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6506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047695" y="1752905"/>
            <a:ext cx="8153705" cy="4190695"/>
          </a:xfrm>
          <a:prstGeom prst="roundRect">
            <a:avLst>
              <a:gd name="adj" fmla="val 1190"/>
            </a:avLst>
          </a:prstGeom>
          <a:solidFill>
            <a:srgbClr val="EFF6FF">
              <a:alpha val="30000"/>
            </a:srgbClr>
          </a:solidFill>
          <a:ln w="254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8620963" y="1867205"/>
            <a:ext cx="2839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93C5FD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743200" y="3838651"/>
            <a:ext cx="1524305" cy="1920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895905" y="3619195"/>
            <a:ext cx="647395" cy="171907"/>
          </a:xfrm>
          <a:prstGeom prst="roundRect">
            <a:avLst>
              <a:gd name="adj" fmla="val 1182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2943454" y="3638398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REST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76695" y="2438705"/>
            <a:ext cx="19202" cy="9144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476695" y="2438705"/>
            <a:ext cx="19202" cy="9144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371600"/>
            <a:ext cx="10972800" cy="495330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1371600"/>
            <a:ext cx="10972800" cy="49533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2938882"/>
            <a:ext cx="2133295" cy="181965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609905" y="2938882"/>
            <a:ext cx="38405" cy="1819656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1429207" y="3167482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552651" y="3319272"/>
            <a:ext cx="286207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8915" y="384322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Web-UI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4176979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HTML/JS Frontend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004011" y="4362602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Input &amp; PDF Preview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667305" y="3771900"/>
            <a:ext cx="152705" cy="15270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79820" r="-79820"/>
          <a:stretch/>
        </p:blipFill>
        <p:spPr>
          <a:xfrm>
            <a:off x="3657600" y="3771900"/>
            <a:ext cx="247802" cy="152705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49700" b="-49700"/>
          <a:stretch/>
        </p:blipFill>
        <p:spPr>
          <a:xfrm>
            <a:off x="6400800" y="2895905"/>
            <a:ext cx="152705" cy="30449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562295" y="1600200"/>
            <a:ext cx="18288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17"/>
          <p:cNvSpPr/>
          <p:nvPr/>
        </p:nvSpPr>
        <p:spPr>
          <a:xfrm>
            <a:off x="5724144" y="17620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38444" y="1876349"/>
            <a:ext cx="152705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219749" y="1790395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SerpAPI / DDG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219749" y="1971446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Search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382305" y="2286000"/>
            <a:ext cx="2286000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1"/>
          <p:cNvSpPr/>
          <p:nvPr/>
        </p:nvSpPr>
        <p:spPr>
          <a:xfrm>
            <a:off x="8382305" y="2286000"/>
            <a:ext cx="38405" cy="110459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2"/>
          <p:cNvSpPr/>
          <p:nvPr/>
        </p:nvSpPr>
        <p:spPr>
          <a:xfrm>
            <a:off x="8492371" y="24761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06671" y="2590495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87061" y="2495398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8987061" y="2704795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LLM Inference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481714" y="2971800"/>
            <a:ext cx="2133295" cy="228600"/>
          </a:xfrm>
          <a:prstGeom prst="roundRect">
            <a:avLst>
              <a:gd name="adj" fmla="val 66667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6"/>
          <p:cNvSpPr txBox="1"/>
          <p:nvPr/>
        </p:nvSpPr>
        <p:spPr>
          <a:xfrm>
            <a:off x="8559797" y="3019349"/>
            <a:ext cx="2030425" cy="123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model: mistral: 7b-instruct / qwen2.5:14b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8382305" y="4381805"/>
            <a:ext cx="2286000" cy="1028700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28"/>
          <p:cNvSpPr/>
          <p:nvPr/>
        </p:nvSpPr>
        <p:spPr>
          <a:xfrm>
            <a:off x="8382305" y="4381805"/>
            <a:ext cx="38405" cy="10287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Shape 29"/>
          <p:cNvSpPr/>
          <p:nvPr/>
        </p:nvSpPr>
        <p:spPr>
          <a:xfrm>
            <a:off x="8610905" y="4572000"/>
            <a:ext cx="381305" cy="381305"/>
          </a:xfrm>
          <a:prstGeom prst="roundRect">
            <a:avLst>
              <a:gd name="adj" fmla="val 47962"/>
            </a:avLst>
          </a:prstGeom>
          <a:solidFill>
            <a:schemeClr val="tx1">
              <a:alpha val="62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712315" y="4658759"/>
            <a:ext cx="174891" cy="200047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105595" y="4591202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9105595" y="4800600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Persistenz Layer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8991295" y="3295498"/>
            <a:ext cx="2133295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Shape 34"/>
          <p:cNvSpPr/>
          <p:nvPr/>
        </p:nvSpPr>
        <p:spPr>
          <a:xfrm>
            <a:off x="8991295" y="3295498"/>
            <a:ext cx="38405" cy="11045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Shape 35"/>
          <p:cNvSpPr/>
          <p:nvPr/>
        </p:nvSpPr>
        <p:spPr>
          <a:xfrm>
            <a:off x="9219895" y="34866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334195" y="3600907"/>
            <a:ext cx="152705" cy="15270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715500" y="3504895"/>
            <a:ext cx="905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Gotenberg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9715500" y="3715207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Engine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9219895" y="3981298"/>
            <a:ext cx="1714500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39"/>
          <p:cNvSpPr txBox="1"/>
          <p:nvPr/>
        </p:nvSpPr>
        <p:spPr>
          <a:xfrm>
            <a:off x="9258300" y="4019702"/>
            <a:ext cx="1438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Chromium: HTML → PDF</a:t>
            </a:r>
            <a:endParaRPr lang="en-US" sz="1000" dirty="0"/>
          </a:p>
        </p:txBody>
      </p:sp>
      <p:sp>
        <p:nvSpPr>
          <p:cNvPr id="53" name="Shape 4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Shape 41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Shape 42"/>
          <p:cNvSpPr/>
          <p:nvPr/>
        </p:nvSpPr>
        <p:spPr>
          <a:xfrm>
            <a:off x="457200" y="26151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52298" y="357530"/>
            <a:ext cx="190195" cy="190195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990295" y="280721"/>
            <a:ext cx="17199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Architektur</a:t>
            </a:r>
            <a:endParaRPr lang="en-US" sz="2200" dirty="0"/>
          </a:p>
        </p:txBody>
      </p:sp>
      <p:sp>
        <p:nvSpPr>
          <p:cNvPr id="58" name="Text 44"/>
          <p:cNvSpPr txBox="1"/>
          <p:nvPr/>
        </p:nvSpPr>
        <p:spPr>
          <a:xfrm>
            <a:off x="9125712" y="347472"/>
            <a:ext cx="2738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563E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Robust, modular, containerisiert</a:t>
            </a:r>
            <a:endParaRPr lang="en-US" sz="1400" dirty="0"/>
          </a:p>
        </p:txBody>
      </p:sp>
      <p:sp>
        <p:nvSpPr>
          <p:cNvPr id="59" name="Shape 45"/>
          <p:cNvSpPr/>
          <p:nvPr/>
        </p:nvSpPr>
        <p:spPr>
          <a:xfrm>
            <a:off x="4267505" y="2352751"/>
            <a:ext cx="2743200" cy="2991002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Shape 46"/>
          <p:cNvSpPr/>
          <p:nvPr/>
        </p:nvSpPr>
        <p:spPr>
          <a:xfrm>
            <a:off x="4267505" y="2352751"/>
            <a:ext cx="2743200" cy="3840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Shape 47"/>
          <p:cNvSpPr/>
          <p:nvPr/>
        </p:nvSpPr>
        <p:spPr>
          <a:xfrm>
            <a:off x="5333695" y="2619756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5458054" y="2781605"/>
            <a:ext cx="362102" cy="286207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4985309" y="3362249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Workflow</a:t>
            </a:r>
            <a:endParaRPr lang="en-US" sz="1500" dirty="0"/>
          </a:p>
        </p:txBody>
      </p:sp>
      <p:sp>
        <p:nvSpPr>
          <p:cNvPr id="64" name="Text 49"/>
          <p:cNvSpPr txBox="1"/>
          <p:nvPr/>
        </p:nvSpPr>
        <p:spPr>
          <a:xfrm>
            <a:off x="5234940" y="3619195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65" name="Shape 50"/>
          <p:cNvSpPr/>
          <p:nvPr/>
        </p:nvSpPr>
        <p:spPr>
          <a:xfrm>
            <a:off x="4496105" y="3914546"/>
            <a:ext cx="2286000" cy="1200607"/>
          </a:xfrm>
          <a:prstGeom prst="roundRect">
            <a:avLst>
              <a:gd name="adj" fmla="val 483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51"/>
          <p:cNvSpPr txBox="1"/>
          <p:nvPr/>
        </p:nvSpPr>
        <p:spPr>
          <a:xfrm>
            <a:off x="4619549" y="4038905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</a:t>
            </a:r>
            <a:endParaRPr lang="en-US" sz="1100" dirty="0"/>
          </a:p>
        </p:txBody>
      </p:sp>
      <p:sp>
        <p:nvSpPr>
          <p:cNvPr id="67" name="Shape 52"/>
          <p:cNvSpPr/>
          <p:nvPr/>
        </p:nvSpPr>
        <p:spPr>
          <a:xfrm>
            <a:off x="4619549" y="4267505"/>
            <a:ext cx="981151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53"/>
          <p:cNvSpPr txBox="1"/>
          <p:nvPr/>
        </p:nvSpPr>
        <p:spPr>
          <a:xfrm>
            <a:off x="4705502" y="4324198"/>
            <a:ext cx="108887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 /start</a:t>
            </a:r>
            <a:endParaRPr lang="en-US" sz="1050" dirty="0"/>
          </a:p>
        </p:txBody>
      </p:sp>
      <p:sp>
        <p:nvSpPr>
          <p:cNvPr id="69" name="Shape 54"/>
          <p:cNvSpPr/>
          <p:nvPr/>
        </p:nvSpPr>
        <p:spPr>
          <a:xfrm>
            <a:off x="5676595" y="4267505"/>
            <a:ext cx="981151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55"/>
          <p:cNvSpPr txBox="1"/>
          <p:nvPr/>
        </p:nvSpPr>
        <p:spPr>
          <a:xfrm>
            <a:off x="5762548" y="4324198"/>
            <a:ext cx="90465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 /pdf</a:t>
            </a:r>
            <a:endParaRPr lang="en-US" sz="1050" dirty="0"/>
          </a:p>
        </p:txBody>
      </p:sp>
      <p:sp>
        <p:nvSpPr>
          <p:cNvPr id="71" name="Shape 56"/>
          <p:cNvSpPr/>
          <p:nvPr/>
        </p:nvSpPr>
        <p:spPr>
          <a:xfrm>
            <a:off x="4619549" y="4591202"/>
            <a:ext cx="981151" cy="400507"/>
          </a:xfrm>
          <a:prstGeom prst="roundRect">
            <a:avLst>
              <a:gd name="adj" fmla="val 217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57"/>
          <p:cNvSpPr txBox="1"/>
          <p:nvPr/>
        </p:nvSpPr>
        <p:spPr>
          <a:xfrm>
            <a:off x="4705502" y="4647895"/>
            <a:ext cx="8190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 /history</a:t>
            </a:r>
            <a:endParaRPr lang="en-US" sz="1050" dirty="0"/>
          </a:p>
        </p:txBody>
      </p:sp>
      <p:sp>
        <p:nvSpPr>
          <p:cNvPr id="73" name="Shape 58"/>
          <p:cNvSpPr/>
          <p:nvPr/>
        </p:nvSpPr>
        <p:spPr>
          <a:xfrm>
            <a:off x="5676595" y="4591202"/>
            <a:ext cx="981151" cy="400507"/>
          </a:xfrm>
          <a:prstGeom prst="roundRect">
            <a:avLst>
              <a:gd name="adj" fmla="val 217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59"/>
          <p:cNvSpPr txBox="1"/>
          <p:nvPr/>
        </p:nvSpPr>
        <p:spPr>
          <a:xfrm>
            <a:off x="5762548" y="4647895"/>
            <a:ext cx="73334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 /insert</a:t>
            </a:r>
            <a:endParaRPr lang="en-US" sz="1050" dirty="0"/>
          </a:p>
        </p:txBody>
      </p:sp>
      <p:sp>
        <p:nvSpPr>
          <p:cNvPr id="75" name="Shape 60"/>
          <p:cNvSpPr/>
          <p:nvPr/>
        </p:nvSpPr>
        <p:spPr>
          <a:xfrm>
            <a:off x="9703613" y="1218895"/>
            <a:ext cx="2038198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 r:embed="rId14"/>
          <a:srcRect l="-80" r="-80"/>
          <a:stretch/>
        </p:blipFill>
        <p:spPr>
          <a:xfrm>
            <a:off x="9865462" y="1304849"/>
            <a:ext cx="286207" cy="228600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10265969" y="1333195"/>
            <a:ext cx="1414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Environment</a:t>
            </a:r>
            <a:endParaRPr lang="en-US" sz="1200" dirty="0"/>
          </a:p>
        </p:txBody>
      </p:sp>
      <p:cxnSp>
        <p:nvCxnSpPr>
          <p:cNvPr id="79" name="Gekrümmte Verbindung 78">
            <a:extLst>
              <a:ext uri="{FF2B5EF4-FFF2-40B4-BE49-F238E27FC236}">
                <a16:creationId xmlns:a16="http://schemas.microsoft.com/office/drawing/2014/main" id="{CEC84EBB-E504-AF41-93EB-8CECBE6EEC25}"/>
              </a:ext>
            </a:extLst>
          </p:cNvPr>
          <p:cNvCxnSpPr>
            <a:stCxn id="59" idx="3"/>
            <a:endCxn id="28" idx="1"/>
          </p:cNvCxnSpPr>
          <p:nvPr/>
        </p:nvCxnSpPr>
        <p:spPr>
          <a:xfrm flipV="1">
            <a:off x="7010705" y="2838298"/>
            <a:ext cx="1371600" cy="1009954"/>
          </a:xfrm>
          <a:prstGeom prst="curvedConnector3">
            <a:avLst>
              <a:gd name="adj1" fmla="val 50000"/>
            </a:avLst>
          </a:prstGeom>
          <a:ln w="12700">
            <a:solidFill>
              <a:srgbClr val="9CA3AF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krümmte Verbindung 80">
            <a:extLst>
              <a:ext uri="{FF2B5EF4-FFF2-40B4-BE49-F238E27FC236}">
                <a16:creationId xmlns:a16="http://schemas.microsoft.com/office/drawing/2014/main" id="{384F6C3F-AACE-91E1-A7BD-B7A20A638D93}"/>
              </a:ext>
            </a:extLst>
          </p:cNvPr>
          <p:cNvCxnSpPr>
            <a:cxnSpLocks/>
          </p:cNvCxnSpPr>
          <p:nvPr/>
        </p:nvCxnSpPr>
        <p:spPr>
          <a:xfrm flipV="1">
            <a:off x="7010705" y="3848614"/>
            <a:ext cx="1980590" cy="456"/>
          </a:xfrm>
          <a:prstGeom prst="curvedConnector3">
            <a:avLst>
              <a:gd name="adj1" fmla="val 50000"/>
            </a:avLst>
          </a:prstGeom>
          <a:ln w="12700">
            <a:solidFill>
              <a:srgbClr val="9CA3AF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krümmte Verbindung 84">
            <a:extLst>
              <a:ext uri="{FF2B5EF4-FFF2-40B4-BE49-F238E27FC236}">
                <a16:creationId xmlns:a16="http://schemas.microsoft.com/office/drawing/2014/main" id="{7C78E707-F5D7-4049-862B-478E9761AD7E}"/>
              </a:ext>
            </a:extLst>
          </p:cNvPr>
          <p:cNvCxnSpPr>
            <a:cxnSpLocks/>
            <a:stCxn id="59" idx="3"/>
            <a:endCxn id="37" idx="1"/>
          </p:cNvCxnSpPr>
          <p:nvPr/>
        </p:nvCxnSpPr>
        <p:spPr>
          <a:xfrm>
            <a:off x="7010705" y="3848252"/>
            <a:ext cx="1371600" cy="1047903"/>
          </a:xfrm>
          <a:prstGeom prst="curvedConnector3">
            <a:avLst>
              <a:gd name="adj1" fmla="val 50000"/>
            </a:avLst>
          </a:prstGeom>
          <a:ln w="12700">
            <a:solidFill>
              <a:srgbClr val="9CA3AF"/>
            </a:solidFill>
            <a:headEnd type="oval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Shape 38">
            <a:extLst>
              <a:ext uri="{FF2B5EF4-FFF2-40B4-BE49-F238E27FC236}">
                <a16:creationId xmlns:a16="http://schemas.microsoft.com/office/drawing/2014/main" id="{D19A98FC-E1A6-CC6E-081E-82E9CEFE8EC2}"/>
              </a:ext>
            </a:extLst>
          </p:cNvPr>
          <p:cNvSpPr/>
          <p:nvPr/>
        </p:nvSpPr>
        <p:spPr>
          <a:xfrm>
            <a:off x="8469630" y="5034126"/>
            <a:ext cx="1714500" cy="228600"/>
          </a:xfrm>
          <a:prstGeom prst="roundRect">
            <a:avLst>
              <a:gd name="adj" fmla="val 66667"/>
            </a:avLst>
          </a:prstGeom>
          <a:solidFill>
            <a:schemeClr val="tx1">
              <a:alpha val="62000"/>
            </a:schemeClr>
          </a:solidFill>
          <a:ln/>
        </p:spPr>
        <p:txBody>
          <a:bodyPr/>
          <a:lstStyle/>
          <a:p>
            <a:endParaRPr lang="de-DE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10905" y="5081321"/>
            <a:ext cx="114300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762695" y="5067605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306452" cy="68726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EBEAF2F-EF98-B167-AB45-EDC2AFC3B521}"/>
              </a:ext>
            </a:extLst>
          </p:cNvPr>
          <p:cNvGrpSpPr/>
          <p:nvPr/>
        </p:nvGrpSpPr>
        <p:grpSpPr>
          <a:xfrm>
            <a:off x="6210605" y="2037556"/>
            <a:ext cx="5219395" cy="2034030"/>
            <a:chOff x="761695" y="2286000"/>
            <a:chExt cx="5219395" cy="203403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567F2119-490A-30AA-1FC7-90450135431D}"/>
                </a:ext>
              </a:extLst>
            </p:cNvPr>
            <p:cNvSpPr/>
            <p:nvPr/>
          </p:nvSpPr>
          <p:spPr>
            <a:xfrm>
              <a:off x="761695" y="2286000"/>
              <a:ext cx="5219395" cy="2034030"/>
            </a:xfrm>
            <a:prstGeom prst="roundRect">
              <a:avLst>
                <a:gd name="adj" fmla="val 2051"/>
              </a:avLst>
            </a:prstGeom>
            <a:solidFill>
              <a:srgbClr val="F1F5F9"/>
            </a:solidFill>
            <a:ln/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D1E22E90-EFC8-5558-66B4-1F12778A9E56}"/>
                </a:ext>
              </a:extLst>
            </p:cNvPr>
            <p:cNvSpPr/>
            <p:nvPr/>
          </p:nvSpPr>
          <p:spPr>
            <a:xfrm>
              <a:off x="761695" y="2286000"/>
              <a:ext cx="57607" cy="203403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35" r="535"/>
          <a:stretch/>
        </p:blipFill>
        <p:spPr>
          <a:xfrm>
            <a:off x="761695" y="381305"/>
            <a:ext cx="1333195" cy="476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1009498"/>
            <a:ext cx="4305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Zielkunden &amp; Use Cases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1505102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 LookUpAI echten Mehrwert schafft</a:t>
            </a:r>
            <a:endParaRPr lang="en-US" sz="1500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C068E378-16B0-370E-655F-B4E62E3477CD}"/>
              </a:ext>
            </a:extLst>
          </p:cNvPr>
          <p:cNvGrpSpPr/>
          <p:nvPr/>
        </p:nvGrpSpPr>
        <p:grpSpPr>
          <a:xfrm>
            <a:off x="761695" y="2023532"/>
            <a:ext cx="5219395" cy="2034030"/>
            <a:chOff x="761695" y="2286000"/>
            <a:chExt cx="5219395" cy="2034030"/>
          </a:xfrm>
        </p:grpSpPr>
        <p:sp>
          <p:nvSpPr>
            <p:cNvPr id="7" name="Shape 4"/>
            <p:cNvSpPr/>
            <p:nvPr/>
          </p:nvSpPr>
          <p:spPr>
            <a:xfrm>
              <a:off x="761695" y="2286000"/>
              <a:ext cx="5219395" cy="2034030"/>
            </a:xfrm>
            <a:prstGeom prst="roundRect">
              <a:avLst>
                <a:gd name="adj" fmla="val 2051"/>
              </a:avLst>
            </a:prstGeom>
            <a:solidFill>
              <a:srgbClr val="F1F5F9"/>
            </a:solidFill>
            <a:ln/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Shape 5"/>
            <p:cNvSpPr/>
            <p:nvPr/>
          </p:nvSpPr>
          <p:spPr>
            <a:xfrm>
              <a:off x="761695" y="2286000"/>
              <a:ext cx="57607" cy="203403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632054" r="-632054"/>
          <a:stretch/>
        </p:blipFill>
        <p:spPr>
          <a:xfrm>
            <a:off x="1123798" y="2590495"/>
            <a:ext cx="4552798" cy="2670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57631" y="2514969"/>
            <a:ext cx="36009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Business Development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123797" y="2697018"/>
            <a:ext cx="439643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Effiziente Gesprächsvorbereitung und Account-Research für präzise Persona-Briefings und höheren Abschluss.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802568" r="-802568"/>
          <a:stretch/>
        </p:blipFill>
        <p:spPr>
          <a:xfrm>
            <a:off x="6572707" y="2719426"/>
            <a:ext cx="4552798" cy="267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72706" y="2513002"/>
            <a:ext cx="2705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Consulting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572706" y="2825948"/>
            <a:ext cx="4519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Schnelle Verifikation von Personenprofilen und Erstellung konsolidierter Kurzprofile für Due Diligence.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632054" r="-632054"/>
          <a:stretch/>
        </p:blipFill>
        <p:spPr>
          <a:xfrm>
            <a:off x="1123798" y="5076749"/>
            <a:ext cx="4552798" cy="267005"/>
          </a:xfrm>
          <a:prstGeom prst="rect">
            <a:avLst/>
          </a:prstGeom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1ADB607-4B61-52A7-3743-F78C9AB8E178}"/>
              </a:ext>
            </a:extLst>
          </p:cNvPr>
          <p:cNvGrpSpPr/>
          <p:nvPr/>
        </p:nvGrpSpPr>
        <p:grpSpPr>
          <a:xfrm>
            <a:off x="761694" y="4490988"/>
            <a:ext cx="5219395" cy="2034030"/>
            <a:chOff x="761695" y="2286000"/>
            <a:chExt cx="5219395" cy="2034030"/>
          </a:xfrm>
        </p:grpSpPr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7FC00E59-F9DC-4188-C735-78525A2EBD7C}"/>
                </a:ext>
              </a:extLst>
            </p:cNvPr>
            <p:cNvSpPr/>
            <p:nvPr/>
          </p:nvSpPr>
          <p:spPr>
            <a:xfrm>
              <a:off x="761695" y="2286000"/>
              <a:ext cx="5219395" cy="2034030"/>
            </a:xfrm>
            <a:prstGeom prst="roundRect">
              <a:avLst>
                <a:gd name="adj" fmla="val 2051"/>
              </a:avLst>
            </a:prstGeom>
            <a:solidFill>
              <a:srgbClr val="F1F5F9"/>
            </a:solidFill>
            <a:ln/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EEB0097D-0DA0-311E-49C6-4D0B640FF00E}"/>
                </a:ext>
              </a:extLst>
            </p:cNvPr>
            <p:cNvSpPr/>
            <p:nvPr/>
          </p:nvSpPr>
          <p:spPr>
            <a:xfrm>
              <a:off x="761695" y="2286000"/>
              <a:ext cx="57607" cy="203403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0" name="Text 14"/>
          <p:cNvSpPr txBox="1"/>
          <p:nvPr/>
        </p:nvSpPr>
        <p:spPr>
          <a:xfrm>
            <a:off x="1123797" y="4999446"/>
            <a:ext cx="2772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&amp; Talent Acquisition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123797" y="5296574"/>
            <a:ext cx="4358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Automatisierter Identitäts- und Rollenabgleich sowie Background-Checks für High-Level-Kandidaten.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802568" r="-802568"/>
          <a:stretch/>
        </p:blipFill>
        <p:spPr>
          <a:xfrm>
            <a:off x="6572707" y="5076749"/>
            <a:ext cx="4552798" cy="267005"/>
          </a:xfrm>
          <a:prstGeom prst="rect">
            <a:avLst/>
          </a:prstGeom>
        </p:spPr>
      </p:pic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EBB6A163-43A2-65CE-85D7-8C12636CC881}"/>
              </a:ext>
            </a:extLst>
          </p:cNvPr>
          <p:cNvGrpSpPr/>
          <p:nvPr/>
        </p:nvGrpSpPr>
        <p:grpSpPr>
          <a:xfrm>
            <a:off x="6210604" y="4490988"/>
            <a:ext cx="5219395" cy="2034030"/>
            <a:chOff x="761695" y="2286000"/>
            <a:chExt cx="5219395" cy="2034030"/>
          </a:xfrm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D72ECCC6-02B1-0057-A2BD-D34DC3252FCE}"/>
                </a:ext>
              </a:extLst>
            </p:cNvPr>
            <p:cNvSpPr/>
            <p:nvPr/>
          </p:nvSpPr>
          <p:spPr>
            <a:xfrm>
              <a:off x="761695" y="2286000"/>
              <a:ext cx="5219395" cy="2034030"/>
            </a:xfrm>
            <a:prstGeom prst="roundRect">
              <a:avLst>
                <a:gd name="adj" fmla="val 2051"/>
              </a:avLst>
            </a:prstGeom>
            <a:solidFill>
              <a:srgbClr val="F1F5F9"/>
            </a:solidFill>
            <a:ln/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F24321B8-C09A-0446-72B7-9C9825E469FB}"/>
                </a:ext>
              </a:extLst>
            </p:cNvPr>
            <p:cNvSpPr/>
            <p:nvPr/>
          </p:nvSpPr>
          <p:spPr>
            <a:xfrm>
              <a:off x="761695" y="2286000"/>
              <a:ext cx="57607" cy="203403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5" name="Text 18"/>
          <p:cNvSpPr txBox="1"/>
          <p:nvPr/>
        </p:nvSpPr>
        <p:spPr>
          <a:xfrm>
            <a:off x="6572707" y="4999446"/>
            <a:ext cx="2086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Investoren &amp; VCs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572707" y="5321975"/>
            <a:ext cx="412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Tiefgehende Gründer- und Executive-Checks vor kritischen Meetings zur Risikominimierung.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 txBox="1"/>
          <p:nvPr/>
        </p:nvSpPr>
        <p:spPr>
          <a:xfrm>
            <a:off x="609905" y="657454"/>
            <a:ext cx="30961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Geschäftsmodell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228954"/>
            <a:ext cx="4829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Skalierbare Abo-Pakete &amp; Enterprise-Erweiterungen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905" y="1790395"/>
            <a:ext cx="2457907" cy="4324198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923544" y="2133295"/>
            <a:ext cx="952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47776" y="2692805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Basis-Suche (SerpAPI)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3602" y="3096733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PDF-Export (limitiert)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3966" y="3483153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Tage Suchhistorie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3602" y="3869571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 Support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2307" y="1790395"/>
            <a:ext cx="2476195" cy="4324198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077310" y="1695298"/>
            <a:ext cx="1067105" cy="247802"/>
          </a:xfrm>
          <a:prstGeom prst="roundRect">
            <a:avLst>
              <a:gd name="adj" fmla="val 369004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4314985" y="1748974"/>
            <a:ext cx="638319" cy="137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EMPFOHLEN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96005" y="2143354"/>
            <a:ext cx="553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96005" y="2609698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Erweiterte Suche &amp; Quellen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96005" y="3181198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Unlimitierte PDF-Exports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96005" y="352409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Unbegrenzte Historie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96005" y="386699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Priorisierter Support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96005" y="42098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Erweiterter Fact-Check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2998" y="1790395"/>
            <a:ext cx="2457907" cy="4324198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6467551" y="2133295"/>
            <a:ext cx="790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67551" y="2600554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Alles aus Pro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67551" y="2943454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Team-Workspace &amp; Sharing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67551" y="3514954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Admin-Dashboard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67551" y="3857854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Zentrales Billing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67551" y="4200754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Success Manager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15400" y="1790395"/>
            <a:ext cx="2667305" cy="4324198"/>
          </a:xfrm>
          <a:prstGeom prst="roundRect">
            <a:avLst>
              <a:gd name="adj" fmla="val 19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 txBox="1"/>
          <p:nvPr/>
        </p:nvSpPr>
        <p:spPr>
          <a:xfrm>
            <a:off x="9229954" y="2133295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ADD-ONS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29954" y="2848356"/>
            <a:ext cx="2038198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9391802" y="29718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9448495" y="3047695"/>
            <a:ext cx="190195" cy="15270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810598" y="3024835"/>
            <a:ext cx="89977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API-Zugriff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229954" y="3552444"/>
            <a:ext cx="2038198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>
            <a:off x="9391802" y="374172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67698" y="3817620"/>
            <a:ext cx="152705" cy="15270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810598" y="3685946"/>
            <a:ext cx="94731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&amp; Compliance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229954" y="4387291"/>
            <a:ext cx="2038198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4"/>
          <p:cNvSpPr/>
          <p:nvPr/>
        </p:nvSpPr>
        <p:spPr>
          <a:xfrm>
            <a:off x="9391802" y="451073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477756" y="4587545"/>
            <a:ext cx="133502" cy="15270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810598" y="4564685"/>
            <a:ext cx="123261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Quellen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9229954" y="5092294"/>
            <a:ext cx="2038198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37"/>
          <p:cNvSpPr/>
          <p:nvPr/>
        </p:nvSpPr>
        <p:spPr>
          <a:xfrm>
            <a:off x="9391802" y="521573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9486900" y="5291633"/>
            <a:ext cx="114300" cy="152705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810598" y="5268773"/>
            <a:ext cx="10899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3364534" y="6347124"/>
            <a:ext cx="5462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Individuelle</a:t>
            </a: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Konditionen</a:t>
            </a: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auf Anfrage. Flexible Upgrades jederzeit möglich.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60FA2AD6-7F03-1F4E-2EA5-7B7A456C9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85" y="2737712"/>
            <a:ext cx="120497" cy="120497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1A8233E-CC78-10C0-03DC-D885A07FD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769" y="3156304"/>
            <a:ext cx="120497" cy="120497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5ECBCE6-5138-B6F6-AF69-50301CB0B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29" y="3545889"/>
            <a:ext cx="120497" cy="120497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6845D320-223C-9DAE-69C9-9156135FC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29" y="3921419"/>
            <a:ext cx="120497" cy="120497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6138B54-DE30-3033-2CA6-3EB95408A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8689" y="2690029"/>
            <a:ext cx="120497" cy="120497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75866AC0-8B73-AF8C-8602-948F18147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341" y="3237179"/>
            <a:ext cx="120497" cy="120497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33BC73C6-8867-3A59-A35F-DB23555D35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341" y="3584856"/>
            <a:ext cx="120497" cy="120497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F89F9B82-CE08-E2E8-5453-A56F7E29F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8689" y="3925723"/>
            <a:ext cx="120497" cy="120497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E7D8E27E-C8B0-1414-C2B6-F08D82735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341" y="4258564"/>
            <a:ext cx="120497" cy="120497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CD3D8630-176E-86D6-45E8-E06A25E40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608" y="2654605"/>
            <a:ext cx="120497" cy="120497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683E7238-A011-3587-213F-A533ED923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230" y="3008167"/>
            <a:ext cx="120497" cy="120497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9CE846C-A5E8-7452-E8B1-8E37E8A38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608" y="3578149"/>
            <a:ext cx="120497" cy="120497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C2898805-8DB1-CBA6-A224-77F3FFAB1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640" y="3923352"/>
            <a:ext cx="120497" cy="120497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8939EB-7DD1-8D20-60A5-90AE3B8C2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640" y="4270514"/>
            <a:ext cx="120497" cy="1204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9601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 txBox="1"/>
          <p:nvPr/>
        </p:nvSpPr>
        <p:spPr>
          <a:xfrm>
            <a:off x="609905" y="857707"/>
            <a:ext cx="49149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Ausblick &amp; Nächste Schritte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362456"/>
            <a:ext cx="4748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Vom MVP zur umfassenden People Intelligence Plattform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2371954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5995" y="2333549"/>
            <a:ext cx="1677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Q2/Q3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89202" y="3174594"/>
            <a:ext cx="19202" cy="76169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6"/>
          <p:cNvSpPr/>
          <p:nvPr/>
        </p:nvSpPr>
        <p:spPr>
          <a:xfrm>
            <a:off x="613562" y="2920594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 txBox="1"/>
          <p:nvPr/>
        </p:nvSpPr>
        <p:spPr>
          <a:xfrm>
            <a:off x="1086307" y="2933395"/>
            <a:ext cx="1729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 Datenquellen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086307" y="3228746"/>
            <a:ext cx="53538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weiterer spezialisierter Datenbanken und Register für breitere Abdeckung und noch höhere Datenqualität.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5791" y="4000136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1"/>
          <p:cNvSpPr txBox="1"/>
          <p:nvPr/>
        </p:nvSpPr>
        <p:spPr>
          <a:xfrm>
            <a:off x="1086307" y="4000500"/>
            <a:ext cx="2052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Firmen- &amp; Rollenprofile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86307" y="4295851"/>
            <a:ext cx="53437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Erweiterung der Suche auf Unternehmen und spezifische Rollenkontexte (z.B. "Wer ist CTO bei...").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5038344"/>
            <a:ext cx="19202" cy="7616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613562" y="5071348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 txBox="1"/>
          <p:nvPr/>
        </p:nvSpPr>
        <p:spPr>
          <a:xfrm>
            <a:off x="1086307" y="5067605"/>
            <a:ext cx="1071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API-Zugriff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086307" y="5362956"/>
            <a:ext cx="5306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REST-API für nahtlose Integration in CRM-, HR- und Research-Tools von Drittanbietern.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907378" y="1752905"/>
            <a:ext cx="4677156" cy="4629607"/>
          </a:xfrm>
          <a:prstGeom prst="roundRect">
            <a:avLst>
              <a:gd name="adj" fmla="val 65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 txBox="1"/>
          <p:nvPr/>
        </p:nvSpPr>
        <p:spPr>
          <a:xfrm>
            <a:off x="7297826" y="2152498"/>
            <a:ext cx="2086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Zusammenarbeit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297826" y="2581351"/>
            <a:ext cx="37911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suchen </a:t>
            </a: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Pilotkunden</a:t>
            </a: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 </a:t>
            </a:r>
            <a:r>
              <a:rPr lang="en-US" sz="1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Design-Partner</a:t>
            </a: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für die nächste Phase.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297826" y="3172054"/>
            <a:ext cx="1123798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7422185" y="3343046"/>
            <a:ext cx="114300" cy="1335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573975" y="3219602"/>
            <a:ext cx="8247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534095" y="3172054"/>
            <a:ext cx="1295705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57539" y="3343046"/>
            <a:ext cx="114300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810244" y="3219602"/>
            <a:ext cx="9957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&amp; Recruiting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941357" y="3172054"/>
            <a:ext cx="1257300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10065715" y="3343046"/>
            <a:ext cx="114300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217506" y="3219602"/>
            <a:ext cx="9573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 &amp; Research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7297826" y="3952951"/>
            <a:ext cx="3895344" cy="203819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27"/>
          <p:cNvSpPr/>
          <p:nvPr/>
        </p:nvSpPr>
        <p:spPr>
          <a:xfrm>
            <a:off x="9015984" y="4190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>
              <a:alpha val="91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5">
            <a:alphaModFix amt="91000"/>
          </a:blip>
          <a:srcRect/>
          <a:stretch/>
        </p:blipFill>
        <p:spPr>
          <a:xfrm>
            <a:off x="9125712" y="4324198"/>
            <a:ext cx="237744" cy="19019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59952" y="4781398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8115300" y="5076749"/>
            <a:ext cx="2367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Erleben Sie LookUpAI jetzt in Aktion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708392" y="5410505"/>
            <a:ext cx="3076956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1"/>
          <p:cNvSpPr txBox="1"/>
          <p:nvPr/>
        </p:nvSpPr>
        <p:spPr>
          <a:xfrm>
            <a:off x="7936992" y="5495544"/>
            <a:ext cx="2719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→ Clustering → Factsheet → PDF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609905" y="6535978"/>
            <a:ext cx="2852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LookUpAI. Alle Rechte vorbehalten.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8487461" y="6858000"/>
            <a:ext cx="1148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Geschwindigkeit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9682582" y="6858000"/>
            <a:ext cx="176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9909353" y="6858000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0565892" y="6858000"/>
            <a:ext cx="176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0793578" y="6858000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Transparenz</a:t>
            </a:r>
            <a:endParaRPr lang="en-US" sz="1000" dirty="0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2FF033EA-A09D-E6A9-11C4-3D8BA47948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5" r="535"/>
          <a:stretch/>
        </p:blipFill>
        <p:spPr>
          <a:xfrm>
            <a:off x="490761" y="381305"/>
            <a:ext cx="1473506" cy="476402"/>
          </a:xfrm>
          <a:prstGeom prst="rect">
            <a:avLst/>
          </a:prstGeom>
        </p:spPr>
      </p:pic>
      <p:sp>
        <p:nvSpPr>
          <p:cNvPr id="47" name="Shape 5">
            <a:extLst>
              <a:ext uri="{FF2B5EF4-FFF2-40B4-BE49-F238E27FC236}">
                <a16:creationId xmlns:a16="http://schemas.microsoft.com/office/drawing/2014/main" id="{B5F1B4DD-82DC-CBB4-83AB-716A16418D8B}"/>
              </a:ext>
            </a:extLst>
          </p:cNvPr>
          <p:cNvSpPr/>
          <p:nvPr/>
        </p:nvSpPr>
        <p:spPr>
          <a:xfrm>
            <a:off x="691470" y="4255227"/>
            <a:ext cx="19202" cy="76169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Macintosh PowerPoint</Application>
  <PresentationFormat>Breitbild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Inter</vt:lpstr>
      <vt:lpstr>Poppins</vt:lpstr>
      <vt:lpstr>ui-monospace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Majeed, Kehan</cp:lastModifiedBy>
  <cp:revision>4</cp:revision>
  <dcterms:created xsi:type="dcterms:W3CDTF">2026-01-18T11:23:44Z</dcterms:created>
  <dcterms:modified xsi:type="dcterms:W3CDTF">2026-01-18T13:04:06Z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2026-01-18T12:55:43Z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7cefd053-21ad-4600-8799-d49153bd0317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